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7" r:id="rId6"/>
    <p:sldId id="269" r:id="rId7"/>
    <p:sldId id="268" r:id="rId8"/>
    <p:sldId id="260" r:id="rId9"/>
    <p:sldId id="261" r:id="rId10"/>
    <p:sldId id="264" r:id="rId11"/>
    <p:sldId id="265" r:id="rId12"/>
    <p:sldId id="266" r:id="rId13"/>
    <p:sldId id="270" r:id="rId14"/>
    <p:sldId id="271" r:id="rId15"/>
    <p:sldId id="272"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4A0"/>
    <a:srgbClr val="1F3A5F"/>
    <a:srgbClr val="E07B39"/>
    <a:srgbClr val="5AAB61"/>
    <a:srgbClr val="4A90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21"/>
    <p:restoredTop sz="82927"/>
  </p:normalViewPr>
  <p:slideViewPr>
    <p:cSldViewPr snapToGrid="0" snapToObjects="1">
      <p:cViewPr varScale="1">
        <p:scale>
          <a:sx n="143" d="100"/>
          <a:sy n="143" d="100"/>
        </p:scale>
        <p:origin x="392" y="192"/>
      </p:cViewPr>
      <p:guideLst/>
    </p:cSldViewPr>
  </p:slideViewPr>
  <p:notesTextViewPr>
    <p:cViewPr>
      <p:scale>
        <a:sx n="90" d="100"/>
        <a:sy n="90" d="100"/>
      </p:scale>
      <p:origin x="0" y="0"/>
    </p:cViewPr>
  </p:notesTextViewPr>
  <p:notesViewPr>
    <p:cSldViewPr snapToGrid="0" snapToObjects="1">
      <p:cViewPr varScale="1">
        <p:scale>
          <a:sx n="96" d="100"/>
          <a:sy n="96" d="100"/>
        </p:scale>
        <p:origin x="4496"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7872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55C94-DACE-BC7F-646F-77E049CD0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0CC4BE-C264-C89F-CC75-BAEA78B5EE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09EEF-A8D1-BBB0-E25B-D4146EF367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BBD2C1-5BC0-5FC9-2538-C7336CFCF588}"/>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689619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4C540-F201-9989-FC08-87BCC40BDA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9E654-CF3D-D290-99C8-AD824C855E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2B2F27-8A60-0D0D-10E0-9CE1ACEF16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7F5566-947B-8751-FB35-E31B977F6E5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179665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9CDD7-B840-50F1-F3EB-1FFE56F35B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978F3C-544D-3BBD-8389-F522B32874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2BDDC6-4F20-4B3B-C2B6-F43CC6659C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BA6437-CC19-21DC-1508-0ABA415823F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882831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 per-metric placebo figures each live on their own native scale (log-odds for detection and false alarms, minutes for lead time), so they cannot be compared side by side. This figure puts all nine tests on one axis by standardizing every effect to its Wald statistic (coefficient divided by standard error), which is unitless and shares the same plus or minus 1.96 significance reference across the logistic and ordinary least squares (OLS) fits. Each row is one event-type by metric cell: grey points are the placebo baseline years, the colored diamond is the real year-10 effect. A diamond outside both its grey placebo cloud and the shaded band is the distinctive, credible case; one inside the cloud is flagged about as readily as an innocent baseline year. The nine placebo tables are recomputed here from the same event-type subsets used above so the cell is self-contained.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2326428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1674040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washingtonpost.com/climate-environment/2025/02/27/noaa-nws-mass-firings-trump-administration/"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mesonet.agron.iastate.edu/cow/"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640080" y="1463040"/>
            <a:ext cx="7863840" cy="109728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Did National Weather Service (NWS) Warning Performance Change After Staffing Cuts in 2025?</a:t>
            </a:r>
          </a:p>
        </p:txBody>
      </p:sp>
      <p:sp>
        <p:nvSpPr>
          <p:cNvPr id="3" name="Text 1"/>
          <p:cNvSpPr/>
          <p:nvPr/>
        </p:nvSpPr>
        <p:spPr>
          <a:xfrm>
            <a:off x="640080" y="2857500"/>
            <a:ext cx="7863840" cy="457200"/>
          </a:xfrm>
          <a:prstGeom prst="rect">
            <a:avLst/>
          </a:prstGeom>
          <a:noFill/>
          <a:ln/>
        </p:spPr>
        <p:txBody>
          <a:bodyPr wrap="square" lIns="0" tIns="0" rIns="0" bIns="0" rtlCol="0" anchor="ctr"/>
          <a:lstStyle/>
          <a:p>
            <a:pPr marL="0" indent="0" algn="l">
              <a:buNone/>
            </a:pPr>
            <a:r>
              <a:rPr lang="en-US" sz="1600" i="1" dirty="0">
                <a:solidFill>
                  <a:srgbClr val="CADCFC"/>
                </a:solidFill>
                <a:latin typeface="Calibri" pitchFamily="34" charset="0"/>
                <a:ea typeface="Calibri" pitchFamily="34" charset="-122"/>
                <a:cs typeface="Calibri" pitchFamily="34" charset="-120"/>
              </a:rPr>
              <a:t>A before/after analysis of detection, false alarms, and lead time across nine tests</a:t>
            </a:r>
          </a:p>
        </p:txBody>
      </p:sp>
      <p:sp>
        <p:nvSpPr>
          <p:cNvPr id="4" name="Shape 2"/>
          <p:cNvSpPr/>
          <p:nvPr/>
        </p:nvSpPr>
        <p:spPr>
          <a:xfrm>
            <a:off x="640080" y="3749040"/>
            <a:ext cx="1097280" cy="0"/>
          </a:xfrm>
          <a:prstGeom prst="line">
            <a:avLst/>
          </a:prstGeom>
          <a:noFill/>
          <a:ln w="12700">
            <a:solidFill>
              <a:srgbClr val="CADCFC"/>
            </a:solidFill>
            <a:prstDash val="solid"/>
          </a:ln>
        </p:spPr>
        <p:txBody>
          <a:bodyPr/>
          <a:lstStyle/>
          <a:p>
            <a:endParaRPr lang="en-US"/>
          </a:p>
        </p:txBody>
      </p:sp>
      <p:sp>
        <p:nvSpPr>
          <p:cNvPr id="5" name="Text 3"/>
          <p:cNvSpPr/>
          <p:nvPr/>
        </p:nvSpPr>
        <p:spPr>
          <a:xfrm>
            <a:off x="640080" y="3886200"/>
            <a:ext cx="7863840" cy="914400"/>
          </a:xfrm>
          <a:prstGeom prst="rect">
            <a:avLst/>
          </a:prstGeom>
          <a:noFill/>
          <a:ln/>
        </p:spPr>
        <p:txBody>
          <a:bodyPr wrap="square" lIns="0" tIns="0" rIns="0" bIns="0" rtlCol="0" anchor="ctr"/>
          <a:lstStyle/>
          <a:p>
            <a:pPr marL="0" indent="0">
              <a:buNone/>
            </a:pPr>
            <a:r>
              <a:rPr lang="en-US" sz="1400" b="1" dirty="0">
                <a:solidFill>
                  <a:srgbClr val="FFFFFF"/>
                </a:solidFill>
                <a:ea typeface="Calibri" pitchFamily="34" charset="-122"/>
                <a:cs typeface="Calibri" pitchFamily="34" charset="-120"/>
              </a:rPr>
              <a:t>Craig Rudman</a:t>
            </a:r>
          </a:p>
          <a:p>
            <a:pPr marL="0" indent="0">
              <a:buNone/>
            </a:pPr>
            <a:r>
              <a:rPr lang="en-US" sz="1400" b="1" dirty="0">
                <a:solidFill>
                  <a:srgbClr val="FFFFFF"/>
                </a:solidFill>
                <a:ea typeface="Calibri" pitchFamily="34" charset="-122"/>
                <a:cs typeface="Calibri" pitchFamily="34" charset="-120"/>
              </a:rPr>
              <a:t>MSDS692 Data Science Practicum I  |  Regis University</a:t>
            </a:r>
          </a:p>
          <a:p>
            <a:pPr marL="0" indent="0">
              <a:buNone/>
            </a:pPr>
            <a:r>
              <a:rPr lang="en-US" sz="1400" b="1" dirty="0">
                <a:solidFill>
                  <a:srgbClr val="FFFFFF"/>
                </a:solidFill>
                <a:ea typeface="Calibri" pitchFamily="34" charset="-122"/>
                <a:cs typeface="Calibri" pitchFamily="34" charset="-120"/>
              </a:rPr>
              <a:t>Prof. Ghulam Mujtaba  |  June 20, 2026</a:t>
            </a:r>
          </a:p>
          <a:p>
            <a:pPr marL="0" indent="0">
              <a:buNone/>
            </a:pPr>
            <a:endParaRPr lang="en-US" sz="1400" b="1" dirty="0">
              <a:solidFill>
                <a:srgbClr val="FFFFFF"/>
              </a:solidFill>
              <a:ea typeface="Calibri" pitchFamily="34" charset="-122"/>
              <a:cs typeface="Calibri"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lgn="l">
              <a:buNone/>
            </a:pPr>
            <a:r>
              <a:rPr lang="en-US" sz="2600" b="1" dirty="0">
                <a:solidFill>
                  <a:srgbClr val="1F2937"/>
                </a:solidFill>
                <a:latin typeface="Cambria" pitchFamily="34" charset="0"/>
                <a:ea typeface="Cambria" pitchFamily="34" charset="-122"/>
                <a:cs typeface="Cambria" pitchFamily="34" charset="-120"/>
              </a:rPr>
              <a:t>The question and why it matters</a:t>
            </a:r>
          </a:p>
        </p:txBody>
      </p:sp>
      <p:sp>
        <p:nvSpPr>
          <p:cNvPr id="3" name="Text 1"/>
          <p:cNvSpPr/>
          <p:nvPr/>
        </p:nvSpPr>
        <p:spPr>
          <a:xfrm>
            <a:off x="457199" y="1051560"/>
            <a:ext cx="3645674" cy="2246769"/>
          </a:xfrm>
          <a:prstGeom prst="rect">
            <a:avLst/>
          </a:prstGeom>
          <a:noFill/>
        </p:spPr>
        <p:txBody>
          <a:bodyPr wrap="square" rtlCol="0">
            <a:spAutoFit/>
          </a:bodyPr>
          <a:lstStyle/>
          <a:p>
            <a:r>
              <a:rPr lang="en-US" sz="1400" b="1" dirty="0"/>
              <a:t>Staffing reductions at NWS began in February 2025.</a:t>
            </a:r>
            <a:r>
              <a:rPr lang="en-US" sz="1400" b="1" baseline="30000" dirty="0"/>
              <a:t>1</a:t>
            </a:r>
          </a:p>
          <a:p>
            <a:endParaRPr lang="en-US" sz="1400" b="1" dirty="0"/>
          </a:p>
          <a:p>
            <a:r>
              <a:rPr lang="en-US" sz="1400" dirty="0"/>
              <a:t>Did warning performance change afterward?</a:t>
            </a:r>
          </a:p>
          <a:p>
            <a:endParaRPr lang="en-US" sz="1400" dirty="0"/>
          </a:p>
          <a:p>
            <a:r>
              <a:rPr lang="en-US" sz="1400" dirty="0"/>
              <a:t>This study tests that question quantitatively.</a:t>
            </a:r>
          </a:p>
          <a:p>
            <a:endParaRPr lang="en-US" sz="1400" dirty="0"/>
          </a:p>
          <a:p>
            <a:r>
              <a:rPr lang="en-US" sz="1400" dirty="0"/>
              <a:t>The finding is an observational comparison, not a controlled experiment. It establishes whether a metric changed, but not why.</a:t>
            </a:r>
          </a:p>
        </p:txBody>
      </p:sp>
      <p:sp>
        <p:nvSpPr>
          <p:cNvPr id="4" name="Shape 2"/>
          <p:cNvSpPr/>
          <p:nvPr/>
        </p:nvSpPr>
        <p:spPr>
          <a:xfrm>
            <a:off x="4572000" y="1051560"/>
            <a:ext cx="4114800" cy="2903220"/>
          </a:xfrm>
          <a:prstGeom prst="roundRect">
            <a:avLst>
              <a:gd name="adj" fmla="val 1875"/>
            </a:avLst>
          </a:prstGeom>
          <a:solidFill>
            <a:srgbClr val="F8FAFC"/>
          </a:solidFill>
          <a:ln w="9525">
            <a:solidFill>
              <a:srgbClr val="D1D5DB"/>
            </a:solidFill>
            <a:prstDash val="solid"/>
          </a:ln>
          <a:effectLst>
            <a:outerShdw blurRad="76200" dist="25400" dir="2700000" algn="bl" rotWithShape="0">
              <a:srgbClr val="000000">
                <a:alpha val="8000"/>
              </a:srgbClr>
            </a:outerShdw>
          </a:effectLst>
        </p:spPr>
        <p:txBody>
          <a:bodyPr/>
          <a:lstStyle/>
          <a:p>
            <a:endParaRPr lang="en-US"/>
          </a:p>
        </p:txBody>
      </p:sp>
      <p:sp>
        <p:nvSpPr>
          <p:cNvPr id="5" name="Text 3"/>
          <p:cNvSpPr/>
          <p:nvPr/>
        </p:nvSpPr>
        <p:spPr>
          <a:xfrm>
            <a:off x="4750231" y="1188720"/>
            <a:ext cx="3753689" cy="2647111"/>
          </a:xfrm>
          <a:prstGeom prst="rect">
            <a:avLst/>
          </a:prstGeom>
          <a:noFill/>
          <a:ln/>
        </p:spPr>
        <p:txBody>
          <a:bodyPr wrap="square" lIns="0" tIns="0" rIns="0" bIns="0" rtlCol="0" anchor="t"/>
          <a:lstStyle/>
          <a:p>
            <a:pPr marL="0" indent="0">
              <a:buNone/>
            </a:pPr>
            <a:r>
              <a:rPr lang="en-US" sz="1400" b="1" dirty="0">
                <a:solidFill>
                  <a:srgbClr val="1F3A5F"/>
                </a:solidFill>
                <a:ea typeface="Calibri" pitchFamily="34" charset="-122"/>
                <a:cs typeface="Calibri" pitchFamily="34" charset="-120"/>
              </a:rPr>
              <a:t>Scope</a:t>
            </a:r>
          </a:p>
          <a:p>
            <a:pPr marL="285750" indent="-285750">
              <a:buFont typeface="Arial" panose="020B0604020202020204" pitchFamily="34" charset="0"/>
              <a:buChar char="•"/>
            </a:pPr>
            <a:r>
              <a:rPr lang="en-US" sz="1400" dirty="0">
                <a:ea typeface="Calibri" pitchFamily="34" charset="-122"/>
                <a:cs typeface="Calibri" pitchFamily="34" charset="-120"/>
              </a:rPr>
              <a:t>10 study years (2016 to 2025)</a:t>
            </a:r>
          </a:p>
          <a:p>
            <a:pPr marL="285750" indent="-285750">
              <a:buFont typeface="Arial" panose="020B0604020202020204" pitchFamily="34" charset="0"/>
              <a:buChar char="•"/>
            </a:pPr>
            <a:r>
              <a:rPr lang="en-US" sz="1400" dirty="0">
                <a:ea typeface="Calibri" pitchFamily="34" charset="-122"/>
                <a:cs typeface="Calibri" pitchFamily="34" charset="-120"/>
              </a:rPr>
              <a:t>116 Weather Forecast Offices (WFO) out of 121, clipped to the continental United States</a:t>
            </a:r>
          </a:p>
          <a:p>
            <a:pPr marL="285750" indent="-285750">
              <a:buFont typeface="Arial" panose="020B0604020202020204" pitchFamily="34" charset="0"/>
              <a:buChar char="•"/>
            </a:pPr>
            <a:r>
              <a:rPr lang="en-US" sz="1400" dirty="0">
                <a:ea typeface="Calibri" pitchFamily="34" charset="-122"/>
                <a:cs typeface="Calibri" pitchFamily="34" charset="-120"/>
              </a:rPr>
              <a:t>3 phenomena: </a:t>
            </a:r>
          </a:p>
          <a:p>
            <a:pPr marL="460375" lvl="1" indent="-168275">
              <a:buFont typeface="System Font Regular"/>
              <a:buChar char="-"/>
            </a:pPr>
            <a:r>
              <a:rPr lang="en-US" sz="1400" dirty="0">
                <a:ea typeface="Calibri" pitchFamily="34" charset="-122"/>
                <a:cs typeface="Calibri" pitchFamily="34" charset="-120"/>
              </a:rPr>
              <a:t>Severe thunderstorms (SV)</a:t>
            </a:r>
          </a:p>
          <a:p>
            <a:pPr marL="460375" lvl="1" indent="-168275">
              <a:buFont typeface="System Font Regular"/>
              <a:buChar char="-"/>
            </a:pPr>
            <a:r>
              <a:rPr lang="en-US" sz="1400" dirty="0">
                <a:ea typeface="Calibri" pitchFamily="34" charset="-122"/>
                <a:cs typeface="Calibri" pitchFamily="34" charset="-120"/>
              </a:rPr>
              <a:t>Flash Floods (FF)</a:t>
            </a:r>
          </a:p>
          <a:p>
            <a:pPr marL="460375" lvl="1" indent="-168275">
              <a:buFont typeface="System Font Regular"/>
              <a:buChar char="-"/>
            </a:pPr>
            <a:r>
              <a:rPr lang="en-US" sz="1400" dirty="0">
                <a:ea typeface="Calibri" pitchFamily="34" charset="-122"/>
                <a:cs typeface="Calibri" pitchFamily="34" charset="-120"/>
              </a:rPr>
              <a:t>Tornadoes (TO)</a:t>
            </a:r>
          </a:p>
          <a:p>
            <a:pPr marL="285750" indent="-285750">
              <a:buFont typeface="Arial" panose="020B0604020202020204" pitchFamily="34" charset="0"/>
              <a:buChar char="•"/>
            </a:pPr>
            <a:r>
              <a:rPr lang="en-US" sz="1400" dirty="0">
                <a:ea typeface="Calibri" pitchFamily="34" charset="-122"/>
                <a:cs typeface="Calibri" pitchFamily="34" charset="-120"/>
              </a:rPr>
              <a:t>3 metrics: </a:t>
            </a:r>
          </a:p>
          <a:p>
            <a:pPr marL="460375" lvl="1" indent="-168275">
              <a:buFont typeface="System Font Regular"/>
              <a:buChar char="-"/>
            </a:pPr>
            <a:r>
              <a:rPr lang="en-US" sz="1400" dirty="0">
                <a:cs typeface="Calibri" pitchFamily="34" charset="-120"/>
              </a:rPr>
              <a:t>Probability of Detection (POD)</a:t>
            </a:r>
          </a:p>
          <a:p>
            <a:pPr marL="460375" lvl="1" indent="-168275">
              <a:buFont typeface="System Font Regular"/>
              <a:buChar char="-"/>
            </a:pPr>
            <a:r>
              <a:rPr lang="en-US" sz="1400" dirty="0">
                <a:cs typeface="Calibri" pitchFamily="34" charset="-120"/>
              </a:rPr>
              <a:t>False Alarm Ratio (FAR)</a:t>
            </a:r>
          </a:p>
          <a:p>
            <a:pPr marL="460375" lvl="1" indent="-168275">
              <a:buFont typeface="System Font Regular"/>
              <a:buChar char="-"/>
            </a:pPr>
            <a:r>
              <a:rPr lang="en-US" sz="1400" dirty="0">
                <a:cs typeface="Calibri" pitchFamily="34" charset="-120"/>
              </a:rPr>
              <a:t>Lead Time Average (LTA)</a:t>
            </a:r>
          </a:p>
        </p:txBody>
      </p:sp>
      <p:sp>
        <p:nvSpPr>
          <p:cNvPr id="9" name="TextBox 8">
            <a:extLst>
              <a:ext uri="{FF2B5EF4-FFF2-40B4-BE49-F238E27FC236}">
                <a16:creationId xmlns:a16="http://schemas.microsoft.com/office/drawing/2014/main" id="{C940AB25-95A9-0C9A-7F29-EE462C718122}"/>
              </a:ext>
            </a:extLst>
          </p:cNvPr>
          <p:cNvSpPr txBox="1"/>
          <p:nvPr/>
        </p:nvSpPr>
        <p:spPr>
          <a:xfrm>
            <a:off x="457200" y="4483811"/>
            <a:ext cx="8229600" cy="339649"/>
          </a:xfrm>
          <a:prstGeom prst="rect">
            <a:avLst/>
          </a:prstGeom>
          <a:noFill/>
        </p:spPr>
        <p:txBody>
          <a:bodyPr wrap="square" rtlCol="0">
            <a:noAutofit/>
          </a:bodyPr>
          <a:lstStyle/>
          <a:p>
            <a:pPr marL="115888" indent="-115888"/>
            <a:r>
              <a:rPr lang="en-US" sz="800" dirty="0"/>
              <a:t>1.	Dance, S. (2025, February 27). </a:t>
            </a:r>
            <a:r>
              <a:rPr lang="en-US" sz="800" i="1" dirty="0"/>
              <a:t>Mass firings hit critical National Weather Service and NOAA offices. </a:t>
            </a:r>
            <a:r>
              <a:rPr lang="en-US" sz="800" dirty="0"/>
              <a:t>The Washington Post. </a:t>
            </a:r>
            <a:r>
              <a:rPr lang="en-US" sz="800" dirty="0">
                <a:hlinkClick r:id="rId3"/>
              </a:rPr>
              <a:t>https://</a:t>
            </a:r>
            <a:r>
              <a:rPr lang="en-US" sz="800" dirty="0" err="1">
                <a:hlinkClick r:id="rId3"/>
              </a:rPr>
              <a:t>www.washingtonpost.com</a:t>
            </a:r>
            <a:r>
              <a:rPr lang="en-US" sz="800" dirty="0">
                <a:hlinkClick r:id="rId3"/>
              </a:rPr>
              <a:t>/climate-environment/2025/02/27/</a:t>
            </a:r>
            <a:r>
              <a:rPr lang="en-US" sz="800" dirty="0" err="1">
                <a:hlinkClick r:id="rId3"/>
              </a:rPr>
              <a:t>noaa</a:t>
            </a:r>
            <a:r>
              <a:rPr lang="en-US" sz="800" dirty="0">
                <a:hlinkClick r:id="rId3"/>
              </a:rPr>
              <a:t>-</a:t>
            </a:r>
            <a:r>
              <a:rPr lang="en-US" sz="800" dirty="0" err="1">
                <a:hlinkClick r:id="rId3"/>
              </a:rPr>
              <a:t>nws</a:t>
            </a:r>
            <a:r>
              <a:rPr lang="en-US" sz="800" dirty="0">
                <a:hlinkClick r:id="rId3"/>
              </a:rPr>
              <a:t>-mass-firings-trump-administration/</a:t>
            </a:r>
            <a:endParaRPr lang="en-US" sz="800" dirty="0"/>
          </a:p>
          <a:p>
            <a:pPr marL="115888" indent="-115888"/>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lgn="l">
              <a:buNone/>
            </a:pPr>
            <a:r>
              <a:rPr lang="en-US" sz="2600" b="1" dirty="0">
                <a:solidFill>
                  <a:srgbClr val="1F2937"/>
                </a:solidFill>
                <a:latin typeface="Cambria" pitchFamily="34" charset="0"/>
                <a:ea typeface="Cambria" pitchFamily="34" charset="-122"/>
                <a:cs typeface="Cambria" pitchFamily="34" charset="-120"/>
              </a:rPr>
              <a:t>How warning performance is measured</a:t>
            </a:r>
          </a:p>
        </p:txBody>
      </p:sp>
      <p:grpSp>
        <p:nvGrpSpPr>
          <p:cNvPr id="16" name="Group 15">
            <a:extLst>
              <a:ext uri="{FF2B5EF4-FFF2-40B4-BE49-F238E27FC236}">
                <a16:creationId xmlns:a16="http://schemas.microsoft.com/office/drawing/2014/main" id="{8C59C1C9-EBD7-61F3-FF99-404B98FA1D25}"/>
              </a:ext>
            </a:extLst>
          </p:cNvPr>
          <p:cNvGrpSpPr/>
          <p:nvPr/>
        </p:nvGrpSpPr>
        <p:grpSpPr>
          <a:xfrm>
            <a:off x="449872" y="1105137"/>
            <a:ext cx="2476208" cy="3062377"/>
            <a:chOff x="449872" y="1105137"/>
            <a:chExt cx="2476208" cy="3062377"/>
          </a:xfrm>
        </p:grpSpPr>
        <p:sp>
          <p:nvSpPr>
            <p:cNvPr id="14" name="Shape 3">
              <a:extLst>
                <a:ext uri="{FF2B5EF4-FFF2-40B4-BE49-F238E27FC236}">
                  <a16:creationId xmlns:a16="http://schemas.microsoft.com/office/drawing/2014/main" id="{560E66A3-7A55-1AF2-032A-41A3237D4DC4}"/>
                </a:ext>
              </a:extLst>
            </p:cNvPr>
            <p:cNvSpPr/>
            <p:nvPr/>
          </p:nvSpPr>
          <p:spPr>
            <a:xfrm>
              <a:off x="449872" y="1105137"/>
              <a:ext cx="2476207" cy="3062377"/>
            </a:xfrm>
            <a:prstGeom prst="roundRect">
              <a:avLst>
                <a:gd name="adj" fmla="val 1714"/>
              </a:avLst>
            </a:prstGeom>
            <a:solidFill>
              <a:srgbClr val="F8FAFC"/>
            </a:solidFill>
            <a:ln w="9525">
              <a:solidFill>
                <a:srgbClr val="D1D5DB"/>
              </a:solidFill>
              <a:prstDash val="solid"/>
            </a:ln>
          </p:spPr>
          <p:txBody>
            <a:bodyPr/>
            <a:lstStyle/>
            <a:p>
              <a:endParaRPr lang="en-US" dirty="0"/>
            </a:p>
          </p:txBody>
        </p:sp>
        <p:sp>
          <p:nvSpPr>
            <p:cNvPr id="3" name="Text 1"/>
            <p:cNvSpPr/>
            <p:nvPr/>
          </p:nvSpPr>
          <p:spPr>
            <a:xfrm>
              <a:off x="559359" y="1196886"/>
              <a:ext cx="2366721" cy="2893100"/>
            </a:xfrm>
            <a:prstGeom prst="rect">
              <a:avLst/>
            </a:prstGeom>
            <a:noFill/>
          </p:spPr>
          <p:txBody>
            <a:bodyPr wrap="square" rtlCol="0">
              <a:spAutoFit/>
            </a:bodyPr>
            <a:lstStyle/>
            <a:p>
              <a:r>
                <a:rPr lang="en-US" sz="1400" b="1" dirty="0"/>
                <a:t>Probability of Detection (POD)</a:t>
              </a:r>
            </a:p>
            <a:p>
              <a:r>
                <a:rPr lang="en-US" sz="1400" dirty="0"/>
                <a:t>Of events that occurred, what share were warned?</a:t>
              </a:r>
            </a:p>
            <a:p>
              <a:endParaRPr lang="en-US" sz="1400" b="1" dirty="0"/>
            </a:p>
            <a:p>
              <a:r>
                <a:rPr lang="en-US" sz="1400" b="1" dirty="0"/>
                <a:t>False Alarm Ratio (FAR)</a:t>
              </a:r>
            </a:p>
            <a:p>
              <a:r>
                <a:rPr lang="en-US" sz="1400" dirty="0"/>
                <a:t>Of warnings issued, what share did not verify?</a:t>
              </a:r>
            </a:p>
            <a:p>
              <a:endParaRPr lang="en-US" sz="1400" b="1" dirty="0"/>
            </a:p>
            <a:p>
              <a:r>
                <a:rPr lang="en-US" sz="1400" b="1" dirty="0"/>
                <a:t>Lead time average (LTA)</a:t>
              </a:r>
            </a:p>
            <a:p>
              <a:r>
                <a:rPr lang="en-US" sz="1400" dirty="0"/>
                <a:t>Minutes between warning issuance and event onset; conditional on detection.</a:t>
              </a:r>
            </a:p>
          </p:txBody>
        </p:sp>
      </p:grpSp>
      <p:pic>
        <p:nvPicPr>
          <p:cNvPr id="10" name="Picture 9">
            <a:extLst>
              <a:ext uri="{FF2B5EF4-FFF2-40B4-BE49-F238E27FC236}">
                <a16:creationId xmlns:a16="http://schemas.microsoft.com/office/drawing/2014/main" id="{56EAE2FA-FAAC-CA47-5F69-5B20B8FB5BED}"/>
              </a:ext>
            </a:extLst>
          </p:cNvPr>
          <p:cNvPicPr>
            <a:picLocks noChangeAspect="1"/>
          </p:cNvPicPr>
          <p:nvPr/>
        </p:nvPicPr>
        <p:blipFill>
          <a:blip r:embed="rId3"/>
          <a:stretch>
            <a:fillRect/>
          </a:stretch>
        </p:blipFill>
        <p:spPr>
          <a:xfrm>
            <a:off x="3034310" y="881364"/>
            <a:ext cx="5144494" cy="3299187"/>
          </a:xfrm>
          <a:prstGeom prst="rect">
            <a:avLst/>
          </a:prstGeom>
        </p:spPr>
      </p:pic>
      <p:sp>
        <p:nvSpPr>
          <p:cNvPr id="12" name="TextBox 11">
            <a:extLst>
              <a:ext uri="{FF2B5EF4-FFF2-40B4-BE49-F238E27FC236}">
                <a16:creationId xmlns:a16="http://schemas.microsoft.com/office/drawing/2014/main" id="{9F2BDF99-BBE9-63C4-BB55-99899CAF10F4}"/>
              </a:ext>
            </a:extLst>
          </p:cNvPr>
          <p:cNvSpPr txBox="1"/>
          <p:nvPr/>
        </p:nvSpPr>
        <p:spPr>
          <a:xfrm>
            <a:off x="457200" y="4238956"/>
            <a:ext cx="2468881" cy="600164"/>
          </a:xfrm>
          <a:prstGeom prst="rect">
            <a:avLst/>
          </a:prstGeom>
          <a:noFill/>
        </p:spPr>
        <p:txBody>
          <a:bodyPr wrap="square" rtlCol="0">
            <a:spAutoFit/>
          </a:bodyPr>
          <a:lstStyle/>
          <a:p>
            <a:r>
              <a:rPr lang="en-US" sz="1100" i="1" dirty="0"/>
              <a:t>Storm reports without warnings are </a:t>
            </a:r>
            <a:r>
              <a:rPr lang="en-US" sz="1100" b="1" i="1" dirty="0">
                <a:solidFill>
                  <a:schemeClr val="accent1"/>
                </a:solidFill>
              </a:rPr>
              <a:t>undetected; </a:t>
            </a:r>
            <a:r>
              <a:rPr lang="en-US" sz="1100" i="1" dirty="0"/>
              <a:t>warnings without storm reports are </a:t>
            </a:r>
            <a:r>
              <a:rPr lang="en-US" sz="1100" b="1" i="1" dirty="0">
                <a:solidFill>
                  <a:schemeClr val="accent1"/>
                </a:solidFill>
              </a:rPr>
              <a:t>false alarms</a:t>
            </a:r>
          </a:p>
        </p:txBody>
      </p:sp>
      <p:sp>
        <p:nvSpPr>
          <p:cNvPr id="21" name="TextBox 20">
            <a:extLst>
              <a:ext uri="{FF2B5EF4-FFF2-40B4-BE49-F238E27FC236}">
                <a16:creationId xmlns:a16="http://schemas.microsoft.com/office/drawing/2014/main" id="{E6C62BEF-B623-F8FF-FF54-AF2F89EC210C}"/>
              </a:ext>
            </a:extLst>
          </p:cNvPr>
          <p:cNvSpPr txBox="1"/>
          <p:nvPr/>
        </p:nvSpPr>
        <p:spPr>
          <a:xfrm>
            <a:off x="3034310" y="4238956"/>
            <a:ext cx="5144494" cy="430887"/>
          </a:xfrm>
          <a:prstGeom prst="rect">
            <a:avLst/>
          </a:prstGeom>
          <a:noFill/>
        </p:spPr>
        <p:txBody>
          <a:bodyPr wrap="square">
            <a:spAutoFit/>
          </a:bodyPr>
          <a:lstStyle/>
          <a:p>
            <a:r>
              <a:rPr lang="en-US" sz="1100" b="1" i="1" dirty="0"/>
              <a:t>Data: </a:t>
            </a:r>
            <a:r>
              <a:rPr lang="en-US" sz="1100" i="1" dirty="0"/>
              <a:t>Iowa Environmental Mesonet Cow (NWS Storm Based Warning Verification), Iowa State University. </a:t>
            </a:r>
            <a:r>
              <a:rPr lang="en-US" sz="1100" i="1" dirty="0">
                <a:hlinkClick r:id="rId4"/>
              </a:rPr>
              <a:t>https://</a:t>
            </a:r>
            <a:r>
              <a:rPr lang="en-US" sz="1100" i="1" dirty="0" err="1">
                <a:hlinkClick r:id="rId4"/>
              </a:rPr>
              <a:t>mesonet.agron.iastate.edu</a:t>
            </a:r>
            <a:r>
              <a:rPr lang="en-US" sz="1100" i="1" dirty="0">
                <a:hlinkClick r:id="rId4"/>
              </a:rPr>
              <a:t>/cow/</a:t>
            </a:r>
            <a:endParaRPr lang="en-US" sz="1100"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8A45B732-8AE0-0B18-24E5-8B581C993AF6}"/>
              </a:ext>
            </a:extLst>
          </p:cNvPr>
          <p:cNvPicPr>
            <a:picLocks noChangeAspect="1"/>
          </p:cNvPicPr>
          <p:nvPr/>
        </p:nvPicPr>
        <p:blipFill>
          <a:blip r:embed="rId3"/>
          <a:stretch>
            <a:fillRect/>
          </a:stretch>
        </p:blipFill>
        <p:spPr>
          <a:xfrm>
            <a:off x="1971040" y="839345"/>
            <a:ext cx="5948459" cy="3588490"/>
          </a:xfrm>
          <a:prstGeom prst="rect">
            <a:avLst/>
          </a:prstGeom>
        </p:spPr>
      </p:pic>
      <p:grpSp>
        <p:nvGrpSpPr>
          <p:cNvPr id="21" name="Group 20">
            <a:extLst>
              <a:ext uri="{FF2B5EF4-FFF2-40B4-BE49-F238E27FC236}">
                <a16:creationId xmlns:a16="http://schemas.microsoft.com/office/drawing/2014/main" id="{4B5CB099-A2F8-4CB9-E0D3-FF88AD2233AA}"/>
              </a:ext>
            </a:extLst>
          </p:cNvPr>
          <p:cNvGrpSpPr/>
          <p:nvPr/>
        </p:nvGrpSpPr>
        <p:grpSpPr>
          <a:xfrm>
            <a:off x="410074" y="1017781"/>
            <a:ext cx="1435372" cy="2825349"/>
            <a:chOff x="410074" y="1017781"/>
            <a:chExt cx="1435372" cy="2825349"/>
          </a:xfrm>
        </p:grpSpPr>
        <p:sp>
          <p:nvSpPr>
            <p:cNvPr id="22" name="Shape 3">
              <a:extLst>
                <a:ext uri="{FF2B5EF4-FFF2-40B4-BE49-F238E27FC236}">
                  <a16:creationId xmlns:a16="http://schemas.microsoft.com/office/drawing/2014/main" id="{DD3CABFB-2D4E-2DB1-DABC-213B1A7876BE}"/>
                </a:ext>
              </a:extLst>
            </p:cNvPr>
            <p:cNvSpPr/>
            <p:nvPr/>
          </p:nvSpPr>
          <p:spPr>
            <a:xfrm>
              <a:off x="410074" y="1017781"/>
              <a:ext cx="1388246" cy="2825349"/>
            </a:xfrm>
            <a:prstGeom prst="roundRect">
              <a:avLst>
                <a:gd name="adj" fmla="val 1714"/>
              </a:avLst>
            </a:prstGeom>
            <a:solidFill>
              <a:srgbClr val="F8FAFC"/>
            </a:solidFill>
            <a:ln w="9525">
              <a:solidFill>
                <a:srgbClr val="D1D5DB"/>
              </a:solidFill>
              <a:prstDash val="solid"/>
            </a:ln>
          </p:spPr>
          <p:txBody>
            <a:bodyPr/>
            <a:lstStyle/>
            <a:p>
              <a:endParaRPr lang="en-US"/>
            </a:p>
          </p:txBody>
        </p:sp>
        <p:sp>
          <p:nvSpPr>
            <p:cNvPr id="23" name="Text 1">
              <a:extLst>
                <a:ext uri="{FF2B5EF4-FFF2-40B4-BE49-F238E27FC236}">
                  <a16:creationId xmlns:a16="http://schemas.microsoft.com/office/drawing/2014/main" id="{D5E8BCA6-C1EC-7765-6A09-A54E92B16D7C}"/>
                </a:ext>
              </a:extLst>
            </p:cNvPr>
            <p:cNvSpPr/>
            <p:nvPr/>
          </p:nvSpPr>
          <p:spPr>
            <a:xfrm>
              <a:off x="457200" y="1056025"/>
              <a:ext cx="1388246" cy="1384995"/>
            </a:xfrm>
            <a:prstGeom prst="rect">
              <a:avLst/>
            </a:prstGeom>
            <a:noFill/>
          </p:spPr>
          <p:txBody>
            <a:bodyPr wrap="square" rtlCol="0">
              <a:spAutoFit/>
            </a:bodyPr>
            <a:lstStyle/>
            <a:p>
              <a:r>
                <a:rPr lang="en-US" sz="1400" dirty="0"/>
                <a:t>Events distribute and cluster in differing patterns by phenomenon.</a:t>
              </a:r>
            </a:p>
          </p:txBody>
        </p:sp>
      </p:grpSp>
      <p:sp>
        <p:nvSpPr>
          <p:cNvPr id="2" name="Text 0"/>
          <p:cNvSpPr/>
          <p:nvPr/>
        </p:nvSpPr>
        <p:spPr>
          <a:xfrm>
            <a:off x="457200" y="320040"/>
            <a:ext cx="8229600" cy="502920"/>
          </a:xfrm>
          <a:prstGeom prst="rect">
            <a:avLst/>
          </a:prstGeom>
          <a:noFill/>
          <a:ln/>
        </p:spPr>
        <p:txBody>
          <a:bodyPr wrap="square" lIns="0" tIns="0" rIns="0" bIns="0" rtlCol="0" anchor="ctr"/>
          <a:lstStyle/>
          <a:p>
            <a:pPr marL="0" indent="0" algn="l">
              <a:buNone/>
            </a:pPr>
            <a:r>
              <a:rPr lang="en-US" sz="2600" b="1" dirty="0">
                <a:solidFill>
                  <a:srgbClr val="1F2937"/>
                </a:solidFill>
                <a:latin typeface="Cambria" pitchFamily="34" charset="0"/>
              </a:rPr>
              <a:t>Geographic distribution of storm reports (2016-2025)</a:t>
            </a:r>
          </a:p>
        </p:txBody>
      </p:sp>
      <p:sp>
        <p:nvSpPr>
          <p:cNvPr id="24" name="TextBox 23">
            <a:extLst>
              <a:ext uri="{FF2B5EF4-FFF2-40B4-BE49-F238E27FC236}">
                <a16:creationId xmlns:a16="http://schemas.microsoft.com/office/drawing/2014/main" id="{AF497820-9112-5ED1-DD2E-503853352D02}"/>
              </a:ext>
            </a:extLst>
          </p:cNvPr>
          <p:cNvSpPr txBox="1"/>
          <p:nvPr/>
        </p:nvSpPr>
        <p:spPr>
          <a:xfrm>
            <a:off x="1971041" y="4304155"/>
            <a:ext cx="5948458" cy="600164"/>
          </a:xfrm>
          <a:prstGeom prst="rect">
            <a:avLst/>
          </a:prstGeom>
          <a:noFill/>
        </p:spPr>
        <p:txBody>
          <a:bodyPr wrap="square" rtlCol="0">
            <a:spAutoFit/>
          </a:bodyPr>
          <a:lstStyle/>
          <a:p>
            <a:r>
              <a:rPr lang="en-US" sz="1100" i="1" dirty="0"/>
              <a:t>Reports cover the contiguous United States but not evenly: severe-storm and tornado reports cluster through the plains and southeast, flash-flood reports follow flood-prone terrain more broadly. The footprint is national, but the density is regional.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0CAF4EC-AB30-9D32-2CCC-9E3B7A8EC5A5}"/>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50CFC7D7-8C22-822B-49F5-2F2157F455C9}"/>
              </a:ext>
            </a:extLst>
          </p:cNvPr>
          <p:cNvPicPr>
            <a:picLocks noChangeAspect="1"/>
          </p:cNvPicPr>
          <p:nvPr/>
        </p:nvPicPr>
        <p:blipFill>
          <a:blip r:embed="rId3"/>
          <a:srcRect/>
          <a:stretch/>
        </p:blipFill>
        <p:spPr>
          <a:xfrm>
            <a:off x="1971040" y="877881"/>
            <a:ext cx="5940508" cy="3500656"/>
          </a:xfrm>
          <a:prstGeom prst="rect">
            <a:avLst/>
          </a:prstGeom>
        </p:spPr>
      </p:pic>
      <p:grpSp>
        <p:nvGrpSpPr>
          <p:cNvPr id="4" name="Group 3">
            <a:extLst>
              <a:ext uri="{FF2B5EF4-FFF2-40B4-BE49-F238E27FC236}">
                <a16:creationId xmlns:a16="http://schemas.microsoft.com/office/drawing/2014/main" id="{DDA6D9B0-3427-1620-5FB5-7F3FBCA750DB}"/>
              </a:ext>
            </a:extLst>
          </p:cNvPr>
          <p:cNvGrpSpPr/>
          <p:nvPr/>
        </p:nvGrpSpPr>
        <p:grpSpPr>
          <a:xfrm>
            <a:off x="410074" y="1017781"/>
            <a:ext cx="1435372" cy="2825349"/>
            <a:chOff x="410074" y="1017781"/>
            <a:chExt cx="1435372" cy="2825349"/>
          </a:xfrm>
        </p:grpSpPr>
        <p:sp>
          <p:nvSpPr>
            <p:cNvPr id="5" name="Shape 3">
              <a:extLst>
                <a:ext uri="{FF2B5EF4-FFF2-40B4-BE49-F238E27FC236}">
                  <a16:creationId xmlns:a16="http://schemas.microsoft.com/office/drawing/2014/main" id="{B903C799-F8A1-C159-A3BD-25641B4BAC1D}"/>
                </a:ext>
              </a:extLst>
            </p:cNvPr>
            <p:cNvSpPr/>
            <p:nvPr/>
          </p:nvSpPr>
          <p:spPr>
            <a:xfrm>
              <a:off x="410074" y="1017781"/>
              <a:ext cx="1388246" cy="2825349"/>
            </a:xfrm>
            <a:prstGeom prst="roundRect">
              <a:avLst>
                <a:gd name="adj" fmla="val 1714"/>
              </a:avLst>
            </a:prstGeom>
            <a:solidFill>
              <a:srgbClr val="F8FAFC"/>
            </a:solidFill>
            <a:ln w="9525">
              <a:solidFill>
                <a:srgbClr val="D1D5DB"/>
              </a:solidFill>
              <a:prstDash val="solid"/>
            </a:ln>
          </p:spPr>
          <p:txBody>
            <a:bodyPr/>
            <a:lstStyle/>
            <a:p>
              <a:endParaRPr lang="en-US"/>
            </a:p>
          </p:txBody>
        </p:sp>
        <p:sp>
          <p:nvSpPr>
            <p:cNvPr id="6" name="Text 1">
              <a:extLst>
                <a:ext uri="{FF2B5EF4-FFF2-40B4-BE49-F238E27FC236}">
                  <a16:creationId xmlns:a16="http://schemas.microsoft.com/office/drawing/2014/main" id="{A4B105E0-449E-BB51-BF27-00471B10D847}"/>
                </a:ext>
              </a:extLst>
            </p:cNvPr>
            <p:cNvSpPr/>
            <p:nvPr/>
          </p:nvSpPr>
          <p:spPr>
            <a:xfrm>
              <a:off x="457200" y="1056025"/>
              <a:ext cx="1388246" cy="954107"/>
            </a:xfrm>
            <a:prstGeom prst="rect">
              <a:avLst/>
            </a:prstGeom>
            <a:noFill/>
          </p:spPr>
          <p:txBody>
            <a:bodyPr wrap="square" rtlCol="0">
              <a:spAutoFit/>
            </a:bodyPr>
            <a:lstStyle/>
            <a:p>
              <a:r>
                <a:rPr lang="en-US" sz="1400" dirty="0"/>
                <a:t>Warnings are distributed across WFOs unevenly.</a:t>
              </a:r>
            </a:p>
          </p:txBody>
        </p:sp>
      </p:grpSp>
      <p:sp>
        <p:nvSpPr>
          <p:cNvPr id="2" name="Text 0">
            <a:extLst>
              <a:ext uri="{FF2B5EF4-FFF2-40B4-BE49-F238E27FC236}">
                <a16:creationId xmlns:a16="http://schemas.microsoft.com/office/drawing/2014/main" id="{518110F6-A28F-BAA0-8D74-9D254983F4FB}"/>
              </a:ext>
            </a:extLst>
          </p:cNvPr>
          <p:cNvSpPr/>
          <p:nvPr/>
        </p:nvSpPr>
        <p:spPr>
          <a:xfrm>
            <a:off x="457200" y="320040"/>
            <a:ext cx="8229600" cy="502920"/>
          </a:xfrm>
          <a:prstGeom prst="rect">
            <a:avLst/>
          </a:prstGeom>
          <a:noFill/>
          <a:ln/>
        </p:spPr>
        <p:txBody>
          <a:bodyPr wrap="square" lIns="0" tIns="0" rIns="0" bIns="0" rtlCol="0" anchor="ctr"/>
          <a:lstStyle/>
          <a:p>
            <a:pPr marL="0" indent="0" algn="l">
              <a:buNone/>
            </a:pPr>
            <a:r>
              <a:rPr lang="en-US" sz="2600" b="1" dirty="0">
                <a:solidFill>
                  <a:srgbClr val="1F2937"/>
                </a:solidFill>
                <a:latin typeface="Cambria" pitchFamily="34" charset="0"/>
                <a:ea typeface="Cambria" pitchFamily="34" charset="-122"/>
                <a:cs typeface="Cambria" pitchFamily="34" charset="-120"/>
              </a:rPr>
              <a:t>Warnings per WFO (2016 – 2025)</a:t>
            </a:r>
            <a:endParaRPr lang="en-US" sz="2600" dirty="0"/>
          </a:p>
        </p:txBody>
      </p:sp>
      <p:sp>
        <p:nvSpPr>
          <p:cNvPr id="12" name="TextBox 11">
            <a:extLst>
              <a:ext uri="{FF2B5EF4-FFF2-40B4-BE49-F238E27FC236}">
                <a16:creationId xmlns:a16="http://schemas.microsoft.com/office/drawing/2014/main" id="{B9C5F749-18F6-F588-ECE7-86B20C26C757}"/>
              </a:ext>
            </a:extLst>
          </p:cNvPr>
          <p:cNvSpPr txBox="1"/>
          <p:nvPr/>
        </p:nvSpPr>
        <p:spPr>
          <a:xfrm>
            <a:off x="1971040" y="4265619"/>
            <a:ext cx="5940508" cy="623312"/>
          </a:xfrm>
          <a:prstGeom prst="rect">
            <a:avLst/>
          </a:prstGeom>
          <a:noFill/>
        </p:spPr>
        <p:txBody>
          <a:bodyPr wrap="square">
            <a:spAutoFit/>
          </a:bodyPr>
          <a:lstStyle/>
          <a:p>
            <a:pPr>
              <a:lnSpc>
                <a:spcPts val="1350"/>
              </a:lnSpc>
              <a:buNone/>
            </a:pPr>
            <a:r>
              <a:rPr lang="en-US" sz="1100" b="0" i="1" dirty="0">
                <a:effectLst/>
              </a:rPr>
              <a:t>Warning volume is uneven across the office network</a:t>
            </a:r>
            <a:r>
              <a:rPr lang="en-US" sz="1100" i="1" dirty="0"/>
              <a:t>. T</a:t>
            </a:r>
            <a:r>
              <a:rPr lang="en-US" sz="1100" b="0" i="1" dirty="0">
                <a:effectLst/>
              </a:rPr>
              <a:t>he largest markers cluster through the plains and the southeast, where severe-storm and tornado activity concentrates, while western and northeastern offices issue far fewer warnings.</a:t>
            </a:r>
            <a:endParaRPr lang="en-US" sz="1100" b="0" dirty="0">
              <a:effectLst/>
            </a:endParaRPr>
          </a:p>
        </p:txBody>
      </p:sp>
    </p:spTree>
    <p:extLst>
      <p:ext uri="{BB962C8B-B14F-4D97-AF65-F5344CB8AC3E}">
        <p14:creationId xmlns:p14="http://schemas.microsoft.com/office/powerpoint/2010/main" val="193160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7E75A93-94FF-BEB3-5E99-5BF1FFFACFB9}"/>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660DAE8C-F003-1F96-75BD-73BA86E0F17F}"/>
              </a:ext>
            </a:extLst>
          </p:cNvPr>
          <p:cNvPicPr>
            <a:picLocks noChangeAspect="1"/>
          </p:cNvPicPr>
          <p:nvPr/>
        </p:nvPicPr>
        <p:blipFill>
          <a:blip r:embed="rId3"/>
          <a:srcRect/>
          <a:stretch/>
        </p:blipFill>
        <p:spPr>
          <a:xfrm>
            <a:off x="2095080" y="915797"/>
            <a:ext cx="6237887" cy="3458979"/>
          </a:xfrm>
          <a:prstGeom prst="rect">
            <a:avLst/>
          </a:prstGeom>
        </p:spPr>
      </p:pic>
      <p:sp>
        <p:nvSpPr>
          <p:cNvPr id="2" name="Text 0">
            <a:extLst>
              <a:ext uri="{FF2B5EF4-FFF2-40B4-BE49-F238E27FC236}">
                <a16:creationId xmlns:a16="http://schemas.microsoft.com/office/drawing/2014/main" id="{94D42B3F-7477-63A3-247F-2218B8EF0CDA}"/>
              </a:ext>
            </a:extLst>
          </p:cNvPr>
          <p:cNvSpPr/>
          <p:nvPr/>
        </p:nvSpPr>
        <p:spPr>
          <a:xfrm>
            <a:off x="457200" y="320040"/>
            <a:ext cx="8229600" cy="502920"/>
          </a:xfrm>
          <a:prstGeom prst="rect">
            <a:avLst/>
          </a:prstGeom>
          <a:noFill/>
          <a:ln/>
        </p:spPr>
        <p:txBody>
          <a:bodyPr wrap="square" lIns="0" tIns="0" rIns="0" bIns="0" rtlCol="0" anchor="ctr"/>
          <a:lstStyle/>
          <a:p>
            <a:pPr marL="0" indent="0" algn="l">
              <a:buNone/>
            </a:pPr>
            <a:r>
              <a:rPr lang="en-US" sz="2600" b="1" dirty="0">
                <a:solidFill>
                  <a:srgbClr val="1F2937"/>
                </a:solidFill>
                <a:latin typeface="Cambria" pitchFamily="34" charset="0"/>
                <a:ea typeface="Cambria" pitchFamily="34" charset="-122"/>
                <a:cs typeface="Cambria" pitchFamily="34" charset="-120"/>
              </a:rPr>
              <a:t>Warnings per year (2016 – 2025)</a:t>
            </a:r>
            <a:endParaRPr lang="en-US" sz="2600" dirty="0"/>
          </a:p>
        </p:txBody>
      </p:sp>
      <p:grpSp>
        <p:nvGrpSpPr>
          <p:cNvPr id="4" name="Group 3">
            <a:extLst>
              <a:ext uri="{FF2B5EF4-FFF2-40B4-BE49-F238E27FC236}">
                <a16:creationId xmlns:a16="http://schemas.microsoft.com/office/drawing/2014/main" id="{80D53C0E-7EA1-D4A9-BE73-71450E7CE9B2}"/>
              </a:ext>
            </a:extLst>
          </p:cNvPr>
          <p:cNvGrpSpPr/>
          <p:nvPr/>
        </p:nvGrpSpPr>
        <p:grpSpPr>
          <a:xfrm>
            <a:off x="410074" y="1017781"/>
            <a:ext cx="1685006" cy="3209922"/>
            <a:chOff x="410074" y="1017781"/>
            <a:chExt cx="1458484" cy="2825349"/>
          </a:xfrm>
        </p:grpSpPr>
        <p:sp>
          <p:nvSpPr>
            <p:cNvPr id="5" name="Shape 3">
              <a:extLst>
                <a:ext uri="{FF2B5EF4-FFF2-40B4-BE49-F238E27FC236}">
                  <a16:creationId xmlns:a16="http://schemas.microsoft.com/office/drawing/2014/main" id="{9EE42141-93F2-5813-BC73-9FCAB516C595}"/>
                </a:ext>
              </a:extLst>
            </p:cNvPr>
            <p:cNvSpPr/>
            <p:nvPr/>
          </p:nvSpPr>
          <p:spPr>
            <a:xfrm>
              <a:off x="410074" y="1017781"/>
              <a:ext cx="1458484" cy="2825349"/>
            </a:xfrm>
            <a:prstGeom prst="roundRect">
              <a:avLst>
                <a:gd name="adj" fmla="val 1714"/>
              </a:avLst>
            </a:prstGeom>
            <a:solidFill>
              <a:srgbClr val="F8FAFC"/>
            </a:solidFill>
            <a:ln w="9525">
              <a:solidFill>
                <a:srgbClr val="D1D5DB"/>
              </a:solidFill>
              <a:prstDash val="solid"/>
            </a:ln>
          </p:spPr>
          <p:txBody>
            <a:bodyPr/>
            <a:lstStyle/>
            <a:p>
              <a:endParaRPr lang="en-US"/>
            </a:p>
          </p:txBody>
        </p:sp>
        <p:sp>
          <p:nvSpPr>
            <p:cNvPr id="6" name="Text 1">
              <a:extLst>
                <a:ext uri="{FF2B5EF4-FFF2-40B4-BE49-F238E27FC236}">
                  <a16:creationId xmlns:a16="http://schemas.microsoft.com/office/drawing/2014/main" id="{9A5CCD26-8A14-658C-2E24-4F402C74135C}"/>
                </a:ext>
              </a:extLst>
            </p:cNvPr>
            <p:cNvSpPr/>
            <p:nvPr/>
          </p:nvSpPr>
          <p:spPr>
            <a:xfrm>
              <a:off x="457200" y="1056025"/>
              <a:ext cx="1284136" cy="1384995"/>
            </a:xfrm>
            <a:prstGeom prst="rect">
              <a:avLst/>
            </a:prstGeom>
            <a:noFill/>
          </p:spPr>
          <p:txBody>
            <a:bodyPr wrap="square" rtlCol="0">
              <a:spAutoFit/>
            </a:bodyPr>
            <a:lstStyle/>
            <a:p>
              <a:r>
                <a:rPr lang="en-US" sz="1400" dirty="0"/>
                <a:t>The volume of warnings varies from year-to-year overall and by phenomenon.</a:t>
              </a:r>
            </a:p>
          </p:txBody>
        </p:sp>
      </p:grpSp>
      <p:sp>
        <p:nvSpPr>
          <p:cNvPr id="9" name="TextBox 8">
            <a:extLst>
              <a:ext uri="{FF2B5EF4-FFF2-40B4-BE49-F238E27FC236}">
                <a16:creationId xmlns:a16="http://schemas.microsoft.com/office/drawing/2014/main" id="{3073206C-7BA8-9A97-0307-45E38650C6A7}"/>
              </a:ext>
            </a:extLst>
          </p:cNvPr>
          <p:cNvSpPr txBox="1"/>
          <p:nvPr/>
        </p:nvSpPr>
        <p:spPr>
          <a:xfrm>
            <a:off x="2095080" y="4431100"/>
            <a:ext cx="6591720" cy="443776"/>
          </a:xfrm>
          <a:prstGeom prst="rect">
            <a:avLst/>
          </a:prstGeom>
          <a:noFill/>
        </p:spPr>
        <p:txBody>
          <a:bodyPr wrap="square">
            <a:spAutoFit/>
          </a:bodyPr>
          <a:lstStyle/>
          <a:p>
            <a:pPr>
              <a:lnSpc>
                <a:spcPts val="1350"/>
              </a:lnSpc>
              <a:buNone/>
            </a:pPr>
            <a:r>
              <a:rPr lang="en-US" sz="1100" b="0" i="1" dirty="0">
                <a:effectLst/>
              </a:rPr>
              <a:t>Every study year carries data for all three types, with no year missing or collapsing. Total volume fluctuates year to year as weather does.</a:t>
            </a:r>
            <a:endParaRPr lang="en-US" sz="1100" b="0" dirty="0">
              <a:effectLst/>
            </a:endParaRPr>
          </a:p>
        </p:txBody>
      </p:sp>
    </p:spTree>
    <p:extLst>
      <p:ext uri="{BB962C8B-B14F-4D97-AF65-F5344CB8AC3E}">
        <p14:creationId xmlns:p14="http://schemas.microsoft.com/office/powerpoint/2010/main" val="2284397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8104537-DF53-48B3-C127-80266081F5D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176FC5-3DD3-9B48-A1B6-1E4FA9CAFD4A}"/>
              </a:ext>
            </a:extLst>
          </p:cNvPr>
          <p:cNvSpPr/>
          <p:nvPr/>
        </p:nvSpPr>
        <p:spPr>
          <a:xfrm>
            <a:off x="457200" y="320040"/>
            <a:ext cx="8229600" cy="502920"/>
          </a:xfrm>
          <a:prstGeom prst="rect">
            <a:avLst/>
          </a:prstGeom>
          <a:noFill/>
          <a:ln/>
        </p:spPr>
        <p:txBody>
          <a:bodyPr wrap="square" lIns="0" tIns="0" rIns="0" bIns="0" rtlCol="0" anchor="ctr"/>
          <a:lstStyle/>
          <a:p>
            <a:pPr marL="0" indent="0" algn="l">
              <a:buNone/>
            </a:pPr>
            <a:r>
              <a:rPr lang="en-US" sz="2600" b="1" dirty="0">
                <a:solidFill>
                  <a:srgbClr val="1F2937"/>
                </a:solidFill>
                <a:latin typeface="Cambria" pitchFamily="34" charset="0"/>
                <a:ea typeface="Cambria" pitchFamily="34" charset="-122"/>
                <a:cs typeface="Cambria" pitchFamily="34" charset="-120"/>
              </a:rPr>
              <a:t>Seasonality of storm reports (2016-2025)</a:t>
            </a:r>
            <a:endParaRPr lang="en-US" sz="2600" dirty="0"/>
          </a:p>
        </p:txBody>
      </p:sp>
      <p:grpSp>
        <p:nvGrpSpPr>
          <p:cNvPr id="5" name="Group 4">
            <a:extLst>
              <a:ext uri="{FF2B5EF4-FFF2-40B4-BE49-F238E27FC236}">
                <a16:creationId xmlns:a16="http://schemas.microsoft.com/office/drawing/2014/main" id="{F9BE30F3-7DB5-4404-8947-FD1B5C6B751A}"/>
              </a:ext>
            </a:extLst>
          </p:cNvPr>
          <p:cNvGrpSpPr/>
          <p:nvPr/>
        </p:nvGrpSpPr>
        <p:grpSpPr>
          <a:xfrm>
            <a:off x="410074" y="1017781"/>
            <a:ext cx="1435372" cy="2825349"/>
            <a:chOff x="410074" y="1017781"/>
            <a:chExt cx="1435372" cy="2825349"/>
          </a:xfrm>
        </p:grpSpPr>
        <p:sp>
          <p:nvSpPr>
            <p:cNvPr id="4" name="Shape 3">
              <a:extLst>
                <a:ext uri="{FF2B5EF4-FFF2-40B4-BE49-F238E27FC236}">
                  <a16:creationId xmlns:a16="http://schemas.microsoft.com/office/drawing/2014/main" id="{77B6E5BD-911A-8C93-F84D-5FBA4954D8B1}"/>
                </a:ext>
              </a:extLst>
            </p:cNvPr>
            <p:cNvSpPr/>
            <p:nvPr/>
          </p:nvSpPr>
          <p:spPr>
            <a:xfrm>
              <a:off x="410074" y="1017781"/>
              <a:ext cx="1388246" cy="2825349"/>
            </a:xfrm>
            <a:prstGeom prst="roundRect">
              <a:avLst>
                <a:gd name="adj" fmla="val 1714"/>
              </a:avLst>
            </a:prstGeom>
            <a:solidFill>
              <a:srgbClr val="F8FAFC"/>
            </a:solidFill>
            <a:ln w="9525">
              <a:solidFill>
                <a:srgbClr val="D1D5DB"/>
              </a:solidFill>
              <a:prstDash val="solid"/>
            </a:ln>
          </p:spPr>
          <p:txBody>
            <a:bodyPr/>
            <a:lstStyle/>
            <a:p>
              <a:endParaRPr lang="en-US" dirty="0"/>
            </a:p>
          </p:txBody>
        </p:sp>
        <p:sp>
          <p:nvSpPr>
            <p:cNvPr id="3" name="Text 1">
              <a:extLst>
                <a:ext uri="{FF2B5EF4-FFF2-40B4-BE49-F238E27FC236}">
                  <a16:creationId xmlns:a16="http://schemas.microsoft.com/office/drawing/2014/main" id="{2983645C-1E64-ED48-8906-28E664550C19}"/>
                </a:ext>
              </a:extLst>
            </p:cNvPr>
            <p:cNvSpPr/>
            <p:nvPr/>
          </p:nvSpPr>
          <p:spPr>
            <a:xfrm>
              <a:off x="457200" y="1056025"/>
              <a:ext cx="1388246" cy="738664"/>
            </a:xfrm>
            <a:prstGeom prst="rect">
              <a:avLst/>
            </a:prstGeom>
            <a:noFill/>
          </p:spPr>
          <p:txBody>
            <a:bodyPr wrap="square" rtlCol="0">
              <a:spAutoFit/>
            </a:bodyPr>
            <a:lstStyle/>
            <a:p>
              <a:r>
                <a:rPr lang="en-US" sz="1400" dirty="0"/>
                <a:t>Weather patterns are seasonal.</a:t>
              </a:r>
            </a:p>
          </p:txBody>
        </p:sp>
      </p:grpSp>
      <p:pic>
        <p:nvPicPr>
          <p:cNvPr id="20" name="Picture 19">
            <a:extLst>
              <a:ext uri="{FF2B5EF4-FFF2-40B4-BE49-F238E27FC236}">
                <a16:creationId xmlns:a16="http://schemas.microsoft.com/office/drawing/2014/main" id="{D02C4911-397D-F4FB-6A5C-4E7CD4C9468B}"/>
              </a:ext>
            </a:extLst>
          </p:cNvPr>
          <p:cNvPicPr>
            <a:picLocks noChangeAspect="1"/>
          </p:cNvPicPr>
          <p:nvPr/>
        </p:nvPicPr>
        <p:blipFill>
          <a:blip r:embed="rId3"/>
          <a:srcRect/>
          <a:stretch/>
        </p:blipFill>
        <p:spPr>
          <a:xfrm>
            <a:off x="2138900" y="779904"/>
            <a:ext cx="6885629" cy="3485849"/>
          </a:xfrm>
          <a:prstGeom prst="rect">
            <a:avLst/>
          </a:prstGeom>
        </p:spPr>
      </p:pic>
      <p:sp>
        <p:nvSpPr>
          <p:cNvPr id="11" name="TextBox 10">
            <a:extLst>
              <a:ext uri="{FF2B5EF4-FFF2-40B4-BE49-F238E27FC236}">
                <a16:creationId xmlns:a16="http://schemas.microsoft.com/office/drawing/2014/main" id="{118A5558-ECBC-90CF-FF3E-AB3D66B83A2D}"/>
              </a:ext>
            </a:extLst>
          </p:cNvPr>
          <p:cNvSpPr txBox="1"/>
          <p:nvPr/>
        </p:nvSpPr>
        <p:spPr>
          <a:xfrm>
            <a:off x="2138899" y="4223296"/>
            <a:ext cx="6885629" cy="600164"/>
          </a:xfrm>
          <a:prstGeom prst="rect">
            <a:avLst/>
          </a:prstGeom>
          <a:noFill/>
        </p:spPr>
        <p:txBody>
          <a:bodyPr wrap="square">
            <a:spAutoFit/>
          </a:bodyPr>
          <a:lstStyle/>
          <a:p>
            <a:r>
              <a:rPr lang="en-US" sz="1100" i="1" dirty="0"/>
              <a:t>Each type has a distinct seasonal signature. The shaded bands mark four engineered seasons; note they break on the 27th of February, May, August, and November (anchored to the treatment anniversary), not on the 1st, so the boundaries sit slightly past each month tick and Winter wraps both ends of the year.</a:t>
            </a:r>
            <a:endParaRPr lang="en-US" sz="1100" dirty="0"/>
          </a:p>
        </p:txBody>
      </p:sp>
    </p:spTree>
    <p:extLst>
      <p:ext uri="{BB962C8B-B14F-4D97-AF65-F5344CB8AC3E}">
        <p14:creationId xmlns:p14="http://schemas.microsoft.com/office/powerpoint/2010/main" val="1419978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lgn="l">
              <a:buNone/>
            </a:pPr>
            <a:r>
              <a:rPr lang="en-US" sz="2600" b="1" dirty="0">
                <a:solidFill>
                  <a:srgbClr val="1F2937"/>
                </a:solidFill>
                <a:latin typeface="Cambria" pitchFamily="34" charset="0"/>
                <a:ea typeface="Cambria" pitchFamily="34" charset="-122"/>
                <a:cs typeface="Cambria" pitchFamily="34" charset="-120"/>
              </a:rPr>
              <a:t>After accounting for season and the 2016 to 2024 trend, where does 2025 land?</a:t>
            </a:r>
          </a:p>
        </p:txBody>
      </p:sp>
      <p:grpSp>
        <p:nvGrpSpPr>
          <p:cNvPr id="18" name="Group 17">
            <a:extLst>
              <a:ext uri="{FF2B5EF4-FFF2-40B4-BE49-F238E27FC236}">
                <a16:creationId xmlns:a16="http://schemas.microsoft.com/office/drawing/2014/main" id="{49E710B1-B67B-0935-53D6-F47E9AECA816}"/>
              </a:ext>
            </a:extLst>
          </p:cNvPr>
          <p:cNvGrpSpPr/>
          <p:nvPr/>
        </p:nvGrpSpPr>
        <p:grpSpPr>
          <a:xfrm>
            <a:off x="449871" y="1811805"/>
            <a:ext cx="3114964" cy="2640755"/>
            <a:chOff x="449871" y="1811805"/>
            <a:chExt cx="3114964" cy="2640755"/>
          </a:xfrm>
        </p:grpSpPr>
        <p:sp>
          <p:nvSpPr>
            <p:cNvPr id="15" name="Shape 3">
              <a:extLst>
                <a:ext uri="{FF2B5EF4-FFF2-40B4-BE49-F238E27FC236}">
                  <a16:creationId xmlns:a16="http://schemas.microsoft.com/office/drawing/2014/main" id="{136055A7-E015-5FC7-CB2D-F5647AF9306E}"/>
                </a:ext>
              </a:extLst>
            </p:cNvPr>
            <p:cNvSpPr/>
            <p:nvPr/>
          </p:nvSpPr>
          <p:spPr>
            <a:xfrm>
              <a:off x="449871" y="1811805"/>
              <a:ext cx="3114964" cy="2640755"/>
            </a:xfrm>
            <a:prstGeom prst="roundRect">
              <a:avLst>
                <a:gd name="adj" fmla="val 1714"/>
              </a:avLst>
            </a:prstGeom>
            <a:solidFill>
              <a:srgbClr val="F8FAFC"/>
            </a:solidFill>
            <a:ln w="9525">
              <a:solidFill>
                <a:srgbClr val="D1D5DB"/>
              </a:solidFill>
              <a:prstDash val="solid"/>
            </a:ln>
          </p:spPr>
          <p:txBody>
            <a:bodyPr/>
            <a:lstStyle/>
            <a:p>
              <a:endParaRPr lang="en-US" dirty="0"/>
            </a:p>
          </p:txBody>
        </p:sp>
        <p:sp>
          <p:nvSpPr>
            <p:cNvPr id="5" name="Text 3"/>
            <p:cNvSpPr/>
            <p:nvPr/>
          </p:nvSpPr>
          <p:spPr>
            <a:xfrm>
              <a:off x="527029" y="1892328"/>
              <a:ext cx="2960649" cy="2479709"/>
            </a:xfrm>
            <a:prstGeom prst="rect">
              <a:avLst/>
            </a:prstGeom>
            <a:noFill/>
          </p:spPr>
          <p:txBody>
            <a:bodyPr wrap="square" rtlCol="0">
              <a:noAutofit/>
            </a:bodyPr>
            <a:lstStyle/>
            <a:p>
              <a:r>
                <a:rPr lang="en-US" sz="1400" b="1" dirty="0"/>
                <a:t>The model</a:t>
              </a:r>
            </a:p>
            <a:p>
              <a:r>
                <a:rPr lang="en-US" sz="1400" dirty="0"/>
                <a:t>For each phenomenon:</a:t>
              </a:r>
            </a:p>
            <a:p>
              <a:pPr marL="285750" indent="-285750">
                <a:buFont typeface="Arial" panose="020B0604020202020204" pitchFamily="34" charset="0"/>
                <a:buChar char="•"/>
              </a:pPr>
              <a:r>
                <a:rPr lang="en-US" sz="1400" dirty="0"/>
                <a:t>A logistic regression for POD</a:t>
              </a:r>
            </a:p>
            <a:p>
              <a:pPr marL="285750" indent="-285750">
                <a:buFont typeface="Arial" panose="020B0604020202020204" pitchFamily="34" charset="0"/>
                <a:buChar char="•"/>
              </a:pPr>
              <a:r>
                <a:rPr lang="en-US" sz="1400" dirty="0"/>
                <a:t>A logistic regression for FAR</a:t>
              </a:r>
            </a:p>
            <a:p>
              <a:pPr marL="285750" indent="-285750">
                <a:buFont typeface="Arial" panose="020B0604020202020204" pitchFamily="34" charset="0"/>
                <a:buChar char="•"/>
              </a:pPr>
              <a:r>
                <a:rPr lang="en-US" sz="1400" dirty="0"/>
                <a:t>A linear regression for LTA</a:t>
              </a:r>
            </a:p>
            <a:p>
              <a:endParaRPr lang="en-US" sz="1400" b="1" dirty="0"/>
            </a:p>
            <a:p>
              <a:r>
                <a:rPr lang="en-US" sz="1400" b="1" dirty="0"/>
                <a:t>Why not a flat baseline mean? </a:t>
              </a:r>
            </a:p>
            <a:p>
              <a:r>
                <a:rPr lang="en-US" sz="1400" dirty="0"/>
                <a:t>If a metric drifts across 2016 to 2024, the expectation for 2025 is not the baseline average, it is where the season-adjusted trend would land.</a:t>
              </a:r>
            </a:p>
          </p:txBody>
        </p:sp>
      </p:grpSp>
      <p:sp>
        <p:nvSpPr>
          <p:cNvPr id="14" name="TextBox 13">
            <a:extLst>
              <a:ext uri="{FF2B5EF4-FFF2-40B4-BE49-F238E27FC236}">
                <a16:creationId xmlns:a16="http://schemas.microsoft.com/office/drawing/2014/main" id="{AF617712-BB43-86C4-3815-D77112C2E400}"/>
              </a:ext>
            </a:extLst>
          </p:cNvPr>
          <p:cNvSpPr txBox="1"/>
          <p:nvPr/>
        </p:nvSpPr>
        <p:spPr>
          <a:xfrm>
            <a:off x="1863406" y="1171378"/>
            <a:ext cx="5417189" cy="400110"/>
          </a:xfrm>
          <a:prstGeom prst="rect">
            <a:avLst/>
          </a:prstGeom>
          <a:solidFill>
            <a:schemeClr val="bg1"/>
          </a:solidFill>
          <a:ln>
            <a:solidFill>
              <a:schemeClr val="tx2"/>
            </a:solidFill>
          </a:ln>
          <a:effectLst>
            <a:outerShdw blurRad="50800" dist="38100" dir="2700000" algn="tl" rotWithShape="0">
              <a:prstClr val="black">
                <a:alpha val="40000"/>
              </a:prstClr>
            </a:outerShdw>
          </a:effectLst>
        </p:spPr>
        <p:txBody>
          <a:bodyPr wrap="none" lIns="182880" tIns="91440" rIns="182880" bIns="91440">
            <a:spAutoFit/>
          </a:bodyPr>
          <a:lstStyle/>
          <a:p>
            <a:r>
              <a:rPr lang="en-US" sz="1400" b="1" dirty="0">
                <a:latin typeface="Andale Mono" panose="020B0509000000000004" pitchFamily="49" charset="0"/>
                <a:ea typeface="Courier New" pitchFamily="34" charset="-122"/>
                <a:cs typeface="Courier New" pitchFamily="34" charset="-120"/>
              </a:rPr>
              <a:t>outcome ~ C(</a:t>
            </a:r>
            <a:r>
              <a:rPr lang="en-US" sz="1400" b="1" dirty="0" err="1">
                <a:latin typeface="Andale Mono" panose="020B0509000000000004" pitchFamily="49" charset="0"/>
                <a:ea typeface="Courier New" pitchFamily="34" charset="-122"/>
                <a:cs typeface="Courier New" pitchFamily="34" charset="-120"/>
              </a:rPr>
              <a:t>season_cat</a:t>
            </a:r>
            <a:r>
              <a:rPr lang="en-US" sz="1400" b="1" dirty="0">
                <a:latin typeface="Andale Mono" panose="020B0509000000000004" pitchFamily="49" charset="0"/>
                <a:ea typeface="Courier New" pitchFamily="34" charset="-122"/>
                <a:cs typeface="Courier New" pitchFamily="34" charset="-120"/>
              </a:rPr>
              <a:t>)+ </a:t>
            </a:r>
            <a:r>
              <a:rPr lang="en-US" sz="1400" b="1" dirty="0" err="1">
                <a:latin typeface="Andale Mono" panose="020B0509000000000004" pitchFamily="49" charset="0"/>
                <a:ea typeface="Courier New" pitchFamily="34" charset="-122"/>
                <a:cs typeface="Courier New" pitchFamily="34" charset="-120"/>
              </a:rPr>
              <a:t>study_year</a:t>
            </a:r>
            <a:r>
              <a:rPr lang="en-US" sz="1400" b="1" dirty="0">
                <a:latin typeface="Andale Mono" panose="020B0509000000000004" pitchFamily="49" charset="0"/>
                <a:ea typeface="Courier New" pitchFamily="34" charset="-122"/>
                <a:cs typeface="Courier New" pitchFamily="34" charset="-120"/>
              </a:rPr>
              <a:t> + is_year10</a:t>
            </a:r>
          </a:p>
        </p:txBody>
      </p:sp>
      <p:graphicFrame>
        <p:nvGraphicFramePr>
          <p:cNvPr id="17" name="Table 16">
            <a:extLst>
              <a:ext uri="{FF2B5EF4-FFF2-40B4-BE49-F238E27FC236}">
                <a16:creationId xmlns:a16="http://schemas.microsoft.com/office/drawing/2014/main" id="{C85D272F-E3F8-8961-8F11-8BE47676A75C}"/>
              </a:ext>
            </a:extLst>
          </p:cNvPr>
          <p:cNvGraphicFramePr>
            <a:graphicFrameLocks noGrp="1"/>
          </p:cNvGraphicFramePr>
          <p:nvPr>
            <p:extLst>
              <p:ext uri="{D42A27DB-BD31-4B8C-83A1-F6EECF244321}">
                <p14:modId xmlns:p14="http://schemas.microsoft.com/office/powerpoint/2010/main" val="58974144"/>
              </p:ext>
            </p:extLst>
          </p:nvPr>
        </p:nvGraphicFramePr>
        <p:xfrm>
          <a:off x="3716025" y="1811804"/>
          <a:ext cx="4943060" cy="2640755"/>
        </p:xfrm>
        <a:graphic>
          <a:graphicData uri="http://schemas.openxmlformats.org/drawingml/2006/table">
            <a:tbl>
              <a:tblPr firstRow="1" firstCol="1" bandRow="1">
                <a:tableStyleId>{5C22544A-7EE6-4342-B048-85BDC9FD1C3A}</a:tableStyleId>
              </a:tblPr>
              <a:tblGrid>
                <a:gridCol w="895732">
                  <a:extLst>
                    <a:ext uri="{9D8B030D-6E8A-4147-A177-3AD203B41FA5}">
                      <a16:colId xmlns:a16="http://schemas.microsoft.com/office/drawing/2014/main" val="3192221130"/>
                    </a:ext>
                  </a:extLst>
                </a:gridCol>
                <a:gridCol w="1575798">
                  <a:extLst>
                    <a:ext uri="{9D8B030D-6E8A-4147-A177-3AD203B41FA5}">
                      <a16:colId xmlns:a16="http://schemas.microsoft.com/office/drawing/2014/main" val="3012083127"/>
                    </a:ext>
                  </a:extLst>
                </a:gridCol>
                <a:gridCol w="1235765">
                  <a:extLst>
                    <a:ext uri="{9D8B030D-6E8A-4147-A177-3AD203B41FA5}">
                      <a16:colId xmlns:a16="http://schemas.microsoft.com/office/drawing/2014/main" val="3375519929"/>
                    </a:ext>
                  </a:extLst>
                </a:gridCol>
                <a:gridCol w="1235765">
                  <a:extLst>
                    <a:ext uri="{9D8B030D-6E8A-4147-A177-3AD203B41FA5}">
                      <a16:colId xmlns:a16="http://schemas.microsoft.com/office/drawing/2014/main" val="1024551635"/>
                    </a:ext>
                  </a:extLst>
                </a:gridCol>
              </a:tblGrid>
              <a:tr h="382310">
                <a:tc>
                  <a:txBody>
                    <a:bodyPr/>
                    <a:lstStyle/>
                    <a:p>
                      <a:r>
                        <a:rPr lang="en-US" dirty="0">
                          <a:solidFill>
                            <a:schemeClr val="bg1"/>
                          </a:solidFill>
                        </a:rPr>
                        <a:t>Metric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r>
                        <a:rPr lang="en-US" dirty="0">
                          <a:solidFill>
                            <a:schemeClr val="bg1"/>
                          </a:solidFill>
                        </a:rPr>
                        <a:t>SV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07B39"/>
                    </a:solidFill>
                  </a:tcPr>
                </a:tc>
                <a:tc>
                  <a:txBody>
                    <a:bodyPr/>
                    <a:lstStyle/>
                    <a:p>
                      <a:r>
                        <a:rPr lang="en-US" dirty="0">
                          <a:solidFill>
                            <a:schemeClr val="bg1"/>
                          </a:solidFill>
                        </a:rPr>
                        <a:t>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A90D9"/>
                    </a:solidFill>
                  </a:tcPr>
                </a:tc>
                <a:tc>
                  <a:txBody>
                    <a:bodyPr/>
                    <a:lstStyle/>
                    <a:p>
                      <a:r>
                        <a:rPr lang="en-US" dirty="0">
                          <a:solidFill>
                            <a:schemeClr val="bg1"/>
                          </a:solidFill>
                        </a:rPr>
                        <a:t>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AAB61"/>
                    </a:solidFill>
                  </a:tcPr>
                </a:tc>
                <a:extLst>
                  <a:ext uri="{0D108BD9-81ED-4DB2-BD59-A6C34878D82A}">
                    <a16:rowId xmlns:a16="http://schemas.microsoft.com/office/drawing/2014/main" val="4000387119"/>
                  </a:ext>
                </a:extLst>
              </a:tr>
              <a:tr h="752815">
                <a:tc>
                  <a:txBody>
                    <a:bodyPr/>
                    <a:lstStyle/>
                    <a:p>
                      <a:r>
                        <a:rPr lang="en-US" dirty="0">
                          <a:solidFill>
                            <a:schemeClr val="tx1"/>
                          </a:solidFill>
                        </a:rPr>
                        <a:t>POD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bg2">
                              <a:lumMod val="25000"/>
                            </a:schemeClr>
                          </a:solidFill>
                        </a:rPr>
                        <a:t>OR 1.01</a:t>
                      </a:r>
                      <a:br>
                        <a:rPr lang="en-US" dirty="0">
                          <a:solidFill>
                            <a:schemeClr val="bg2">
                              <a:lumMod val="25000"/>
                            </a:schemeClr>
                          </a:solidFill>
                        </a:rPr>
                      </a:br>
                      <a:r>
                        <a:rPr lang="en-US" dirty="0">
                          <a:solidFill>
                            <a:schemeClr val="bg2">
                              <a:lumMod val="25000"/>
                            </a:schemeClr>
                          </a:solidFill>
                        </a:rPr>
                        <a:t>p=0.37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07B39">
                        <a:alpha val="25086"/>
                      </a:srgbClr>
                    </a:solidFill>
                  </a:tcPr>
                </a:tc>
                <a:tc>
                  <a:txBody>
                    <a:bodyPr/>
                    <a:lstStyle/>
                    <a:p>
                      <a:r>
                        <a:rPr lang="en-US" dirty="0">
                          <a:solidFill>
                            <a:schemeClr val="bg2">
                              <a:lumMod val="25000"/>
                            </a:schemeClr>
                          </a:solidFill>
                        </a:rPr>
                        <a:t>OR 1.09</a:t>
                      </a:r>
                      <a:br>
                        <a:rPr lang="en-US" dirty="0">
                          <a:solidFill>
                            <a:schemeClr val="bg2">
                              <a:lumMod val="25000"/>
                            </a:schemeClr>
                          </a:solidFill>
                        </a:rPr>
                      </a:br>
                      <a:r>
                        <a:rPr lang="en-US" dirty="0">
                          <a:solidFill>
                            <a:schemeClr val="bg2">
                              <a:lumMod val="25000"/>
                            </a:schemeClr>
                          </a:solidFill>
                        </a:rPr>
                        <a:t>p=0.17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A90D9">
                        <a:alpha val="25086"/>
                      </a:srgbClr>
                    </a:solidFill>
                  </a:tcPr>
                </a:tc>
                <a:tc>
                  <a:txBody>
                    <a:bodyPr/>
                    <a:lstStyle/>
                    <a:p>
                      <a:r>
                        <a:rPr lang="en-US" dirty="0">
                          <a:solidFill>
                            <a:schemeClr val="bg2">
                              <a:lumMod val="25000"/>
                            </a:schemeClr>
                          </a:solidFill>
                        </a:rPr>
                        <a:t>OR 1.04</a:t>
                      </a:r>
                      <a:br>
                        <a:rPr lang="en-US" dirty="0">
                          <a:solidFill>
                            <a:schemeClr val="bg2">
                              <a:lumMod val="25000"/>
                            </a:schemeClr>
                          </a:solidFill>
                        </a:rPr>
                      </a:br>
                      <a:r>
                        <a:rPr lang="en-US" dirty="0">
                          <a:solidFill>
                            <a:schemeClr val="bg2">
                              <a:lumMod val="25000"/>
                            </a:schemeClr>
                          </a:solidFill>
                        </a:rPr>
                        <a:t>p=0.26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AAB61">
                        <a:alpha val="25086"/>
                      </a:srgbClr>
                    </a:solidFill>
                  </a:tcPr>
                </a:tc>
                <a:extLst>
                  <a:ext uri="{0D108BD9-81ED-4DB2-BD59-A6C34878D82A}">
                    <a16:rowId xmlns:a16="http://schemas.microsoft.com/office/drawing/2014/main" val="1626162147"/>
                  </a:ext>
                </a:extLst>
              </a:tr>
              <a:tr h="752815">
                <a:tc>
                  <a:txBody>
                    <a:bodyPr/>
                    <a:lstStyle/>
                    <a:p>
                      <a:r>
                        <a:rPr lang="en-US" dirty="0">
                          <a:solidFill>
                            <a:schemeClr val="tx1"/>
                          </a:solidFill>
                        </a:rPr>
                        <a:t>FAR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solidFill>
                            <a:schemeClr val="tx1"/>
                          </a:solidFill>
                        </a:rPr>
                        <a:t>OR 1.15</a:t>
                      </a:r>
                      <a:br>
                        <a:rPr lang="en-US" b="1" dirty="0">
                          <a:solidFill>
                            <a:schemeClr val="tx1"/>
                          </a:solidFill>
                        </a:rPr>
                      </a:br>
                      <a:r>
                        <a:rPr lang="en-US" b="1" dirty="0">
                          <a:solidFill>
                            <a:schemeClr val="tx1"/>
                          </a:solidFill>
                        </a:rPr>
                        <a:t>p</a:t>
                      </a:r>
                      <a:r>
                        <a:rPr lang="en-US" sz="1800" b="1" i="0" kern="1200" dirty="0">
                          <a:solidFill>
                            <a:schemeClr val="tx1"/>
                          </a:solidFill>
                          <a:effectLst/>
                          <a:latin typeface="+mn-lt"/>
                          <a:ea typeface="+mn-ea"/>
                          <a:cs typeface="+mn-cs"/>
                        </a:rPr>
                        <a:t>≈</a:t>
                      </a:r>
                      <a:r>
                        <a:rPr lang="en-US" b="1" dirty="0">
                          <a:solidFill>
                            <a:schemeClr val="tx1"/>
                          </a:solidFill>
                        </a:rPr>
                        <a:t>1e-17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07B39">
                        <a:alpha val="25086"/>
                      </a:srgbClr>
                    </a:solidFill>
                  </a:tcPr>
                </a:tc>
                <a:tc>
                  <a:txBody>
                    <a:bodyPr/>
                    <a:lstStyle/>
                    <a:p>
                      <a:r>
                        <a:rPr lang="en-US" dirty="0">
                          <a:solidFill>
                            <a:schemeClr val="bg2">
                              <a:lumMod val="25000"/>
                            </a:schemeClr>
                          </a:solidFill>
                        </a:rPr>
                        <a:t>OR 1.03</a:t>
                      </a:r>
                      <a:br>
                        <a:rPr lang="en-US" dirty="0">
                          <a:solidFill>
                            <a:schemeClr val="bg2">
                              <a:lumMod val="25000"/>
                            </a:schemeClr>
                          </a:solidFill>
                        </a:rPr>
                      </a:br>
                      <a:r>
                        <a:rPr lang="en-US" dirty="0">
                          <a:solidFill>
                            <a:schemeClr val="bg2">
                              <a:lumMod val="25000"/>
                            </a:schemeClr>
                          </a:solidFill>
                        </a:rPr>
                        <a:t>p=0.56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A90D9">
                        <a:alpha val="25086"/>
                      </a:srgbClr>
                    </a:solidFill>
                  </a:tcPr>
                </a:tc>
                <a:tc>
                  <a:txBody>
                    <a:bodyPr/>
                    <a:lstStyle/>
                    <a:p>
                      <a:r>
                        <a:rPr lang="en-US" b="1" dirty="0">
                          <a:solidFill>
                            <a:schemeClr val="tx1"/>
                          </a:solidFill>
                        </a:rPr>
                        <a:t>OR 0.87</a:t>
                      </a:r>
                      <a:br>
                        <a:rPr lang="en-US" b="1" dirty="0">
                          <a:solidFill>
                            <a:schemeClr val="tx1"/>
                          </a:solidFill>
                        </a:rPr>
                      </a:br>
                      <a:r>
                        <a:rPr lang="en-US" b="1" dirty="0">
                          <a:solidFill>
                            <a:schemeClr val="tx1"/>
                          </a:solidFill>
                        </a:rPr>
                        <a:t>p</a:t>
                      </a:r>
                      <a:r>
                        <a:rPr lang="en-US" sz="1800" b="1" i="0" kern="1200" dirty="0">
                          <a:solidFill>
                            <a:schemeClr val="tx1"/>
                          </a:solidFill>
                          <a:effectLst/>
                          <a:latin typeface="+mn-lt"/>
                          <a:ea typeface="+mn-ea"/>
                          <a:cs typeface="+mn-cs"/>
                        </a:rPr>
                        <a:t>≈3e-4</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AAB61">
                        <a:alpha val="25086"/>
                      </a:srgbClr>
                    </a:solidFill>
                  </a:tcPr>
                </a:tc>
                <a:extLst>
                  <a:ext uri="{0D108BD9-81ED-4DB2-BD59-A6C34878D82A}">
                    <a16:rowId xmlns:a16="http://schemas.microsoft.com/office/drawing/2014/main" val="1350011419"/>
                  </a:ext>
                </a:extLst>
              </a:tr>
              <a:tr h="752815">
                <a:tc>
                  <a:txBody>
                    <a:bodyPr/>
                    <a:lstStyle/>
                    <a:p>
                      <a:r>
                        <a:rPr lang="en-US" dirty="0">
                          <a:solidFill>
                            <a:schemeClr val="tx1"/>
                          </a:solidFill>
                        </a:rPr>
                        <a:t>LTA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bg2">
                              <a:lumMod val="25000"/>
                            </a:schemeClr>
                          </a:solidFill>
                        </a:rPr>
                        <a:t>-0.2 min</a:t>
                      </a:r>
                      <a:br>
                        <a:rPr lang="en-US" dirty="0">
                          <a:solidFill>
                            <a:schemeClr val="bg2">
                              <a:lumMod val="25000"/>
                            </a:schemeClr>
                          </a:solidFill>
                        </a:rPr>
                      </a:br>
                      <a:r>
                        <a:rPr lang="en-US" dirty="0">
                          <a:solidFill>
                            <a:schemeClr val="bg2">
                              <a:lumMod val="25000"/>
                            </a:schemeClr>
                          </a:solidFill>
                        </a:rPr>
                        <a:t>p=0.10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07B39">
                        <a:alpha val="25086"/>
                      </a:srgbClr>
                    </a:solidFill>
                  </a:tcPr>
                </a:tc>
                <a:tc>
                  <a:txBody>
                    <a:bodyPr/>
                    <a:lstStyle/>
                    <a:p>
                      <a:r>
                        <a:rPr lang="en-US" dirty="0">
                          <a:solidFill>
                            <a:schemeClr val="bg2">
                              <a:lumMod val="25000"/>
                            </a:schemeClr>
                          </a:solidFill>
                        </a:rPr>
                        <a:t>-0.6 min</a:t>
                      </a:r>
                      <a:br>
                        <a:rPr lang="en-US" dirty="0">
                          <a:solidFill>
                            <a:schemeClr val="bg2">
                              <a:lumMod val="25000"/>
                            </a:schemeClr>
                          </a:solidFill>
                        </a:rPr>
                      </a:br>
                      <a:r>
                        <a:rPr lang="en-US" dirty="0">
                          <a:solidFill>
                            <a:schemeClr val="bg2">
                              <a:lumMod val="25000"/>
                            </a:schemeClr>
                          </a:solidFill>
                        </a:rPr>
                        <a:t>p=0.15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A90D9">
                        <a:alpha val="25086"/>
                      </a:srgbClr>
                    </a:solidFill>
                  </a:tcPr>
                </a:tc>
                <a:tc>
                  <a:txBody>
                    <a:bodyPr/>
                    <a:lstStyle/>
                    <a:p>
                      <a:r>
                        <a:rPr lang="en-US" b="1" dirty="0">
                          <a:solidFill>
                            <a:schemeClr val="bg2">
                              <a:lumMod val="25000"/>
                            </a:schemeClr>
                          </a:solidFill>
                        </a:rPr>
                        <a:t>-13.0 min</a:t>
                      </a:r>
                    </a:p>
                    <a:p>
                      <a:r>
                        <a:rPr lang="en-US" b="1" dirty="0">
                          <a:solidFill>
                            <a:schemeClr val="bg2">
                              <a:lumMod val="25000"/>
                            </a:schemeClr>
                          </a:solidFill>
                        </a:rPr>
                        <a:t>p=2e-13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AAB61">
                        <a:alpha val="25086"/>
                      </a:srgbClr>
                    </a:solidFill>
                  </a:tcPr>
                </a:tc>
                <a:extLst>
                  <a:ext uri="{0D108BD9-81ED-4DB2-BD59-A6C34878D82A}">
                    <a16:rowId xmlns:a16="http://schemas.microsoft.com/office/drawing/2014/main" val="628467019"/>
                  </a:ext>
                </a:extLst>
              </a:tr>
            </a:tbl>
          </a:graphicData>
        </a:graphic>
      </p:graphicFrame>
      <p:sp>
        <p:nvSpPr>
          <p:cNvPr id="21" name="TextBox 20">
            <a:extLst>
              <a:ext uri="{FF2B5EF4-FFF2-40B4-BE49-F238E27FC236}">
                <a16:creationId xmlns:a16="http://schemas.microsoft.com/office/drawing/2014/main" id="{AE017D0D-B66E-3B46-D093-382A6E7E12A4}"/>
              </a:ext>
            </a:extLst>
          </p:cNvPr>
          <p:cNvSpPr txBox="1"/>
          <p:nvPr/>
        </p:nvSpPr>
        <p:spPr>
          <a:xfrm>
            <a:off x="3619307" y="4450945"/>
            <a:ext cx="5182829" cy="261610"/>
          </a:xfrm>
          <a:prstGeom prst="rect">
            <a:avLst/>
          </a:prstGeom>
          <a:noFill/>
        </p:spPr>
        <p:txBody>
          <a:bodyPr wrap="none" rtlCol="0">
            <a:spAutoFit/>
          </a:bodyPr>
          <a:lstStyle/>
          <a:p>
            <a:r>
              <a:rPr lang="en-US" sz="1100" i="1" dirty="0"/>
              <a:t>Bold marks statistically significant results that carry forward to placebo and FDR checks.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13" name="Shape 3">
            <a:extLst>
              <a:ext uri="{FF2B5EF4-FFF2-40B4-BE49-F238E27FC236}">
                <a16:creationId xmlns:a16="http://schemas.microsoft.com/office/drawing/2014/main" id="{3693CABF-210E-6271-EE46-A44E0029E13B}"/>
              </a:ext>
            </a:extLst>
          </p:cNvPr>
          <p:cNvSpPr/>
          <p:nvPr/>
        </p:nvSpPr>
        <p:spPr>
          <a:xfrm>
            <a:off x="457200" y="971550"/>
            <a:ext cx="2949212" cy="3194044"/>
          </a:xfrm>
          <a:prstGeom prst="roundRect">
            <a:avLst>
              <a:gd name="adj" fmla="val 1714"/>
            </a:avLst>
          </a:prstGeom>
          <a:solidFill>
            <a:srgbClr val="F8FAFC"/>
          </a:solidFill>
          <a:ln w="9525">
            <a:solidFill>
              <a:srgbClr val="D1D5DB"/>
            </a:solidFill>
            <a:prstDash val="solid"/>
          </a:ln>
        </p:spPr>
        <p:txBody>
          <a:bodyPr/>
          <a:lstStyle/>
          <a:p>
            <a:endParaRPr lang="en-US"/>
          </a:p>
        </p:txBody>
      </p:sp>
      <p:sp>
        <p:nvSpPr>
          <p:cNvPr id="2" name="Text 0"/>
          <p:cNvSpPr/>
          <p:nvPr/>
        </p:nvSpPr>
        <p:spPr>
          <a:xfrm>
            <a:off x="457200" y="320040"/>
            <a:ext cx="8229600" cy="502920"/>
          </a:xfrm>
          <a:prstGeom prst="rect">
            <a:avLst/>
          </a:prstGeom>
          <a:noFill/>
          <a:ln/>
        </p:spPr>
        <p:txBody>
          <a:bodyPr wrap="square" lIns="0" tIns="0" rIns="0" bIns="0" rtlCol="0" anchor="ctr"/>
          <a:lstStyle/>
          <a:p>
            <a:pPr marL="0" indent="0" algn="just">
              <a:buNone/>
            </a:pPr>
            <a:r>
              <a:rPr lang="en-US" sz="2600" b="1" dirty="0">
                <a:solidFill>
                  <a:srgbClr val="1F2937"/>
                </a:solidFill>
                <a:latin typeface="Cambria" pitchFamily="34" charset="0"/>
                <a:ea typeface="Cambria" pitchFamily="34" charset="-122"/>
                <a:cs typeface="Cambria" pitchFamily="34" charset="-120"/>
              </a:rPr>
              <a:t>Two tests to guard against false positives</a:t>
            </a:r>
            <a:endParaRPr lang="en-US" sz="1100" i="1" dirty="0"/>
          </a:p>
        </p:txBody>
      </p:sp>
      <p:sp>
        <p:nvSpPr>
          <p:cNvPr id="4" name="Text 2"/>
          <p:cNvSpPr/>
          <p:nvPr/>
        </p:nvSpPr>
        <p:spPr>
          <a:xfrm>
            <a:off x="503885" y="977906"/>
            <a:ext cx="2855843" cy="3108543"/>
          </a:xfrm>
          <a:prstGeom prst="rect">
            <a:avLst/>
          </a:prstGeom>
          <a:noFill/>
        </p:spPr>
        <p:txBody>
          <a:bodyPr wrap="square" rtlCol="0">
            <a:spAutoFit/>
          </a:bodyPr>
          <a:lstStyle/>
          <a:p>
            <a:r>
              <a:rPr lang="en-US" sz="1400" b="1" dirty="0">
                <a:cs typeface="Calibri" pitchFamily="34" charset="-120"/>
              </a:rPr>
              <a:t>Placebo test </a:t>
            </a:r>
          </a:p>
          <a:p>
            <a:r>
              <a:rPr lang="en-US" sz="1400" dirty="0"/>
              <a:t>Drop year 10. For each interior baseline year, refit with the indicator pointing at that year instead of 2025. Collect the placebo coefficients into a spread.</a:t>
            </a:r>
          </a:p>
          <a:p>
            <a:pPr marL="285750" indent="-285750">
              <a:buFont typeface="Arial" panose="020B0604020202020204" pitchFamily="34" charset="0"/>
              <a:buChar char="•"/>
            </a:pPr>
            <a:endParaRPr lang="en-US" sz="1400" dirty="0"/>
          </a:p>
          <a:p>
            <a:r>
              <a:rPr lang="en-US" sz="1400" b="1" dirty="0">
                <a:ea typeface="Calibri" pitchFamily="34" charset="-122"/>
                <a:cs typeface="Calibri" pitchFamily="34" charset="-120"/>
              </a:rPr>
              <a:t>Benjamini-Hochberg FDR Correction</a:t>
            </a:r>
            <a:r>
              <a:rPr lang="en-US" sz="1400" dirty="0">
                <a:ea typeface="Calibri" pitchFamily="34" charset="-122"/>
                <a:cs typeface="Calibri" pitchFamily="34" charset="-120"/>
              </a:rPr>
              <a:t> </a:t>
            </a:r>
          </a:p>
          <a:p>
            <a:r>
              <a:rPr lang="en-US" sz="1400" dirty="0">
                <a:cs typeface="Calibri" pitchFamily="34" charset="-120"/>
              </a:rPr>
              <a:t>Fit the data to the model with 2025 as the treatment. R</a:t>
            </a:r>
            <a:r>
              <a:rPr lang="en-US" sz="1400" dirty="0"/>
              <a:t>ank the p-values from each and accept each one whose value falls below its rank’s proportional share of the false-discovery budget (i.e. </a:t>
            </a:r>
            <a:r>
              <a:rPr lang="el-GR" sz="1400" dirty="0"/>
              <a:t>α </a:t>
            </a:r>
            <a:r>
              <a:rPr lang="en-US" sz="1400" dirty="0"/>
              <a:t>= 0.05).</a:t>
            </a:r>
            <a:endParaRPr lang="en-US" sz="1400" dirty="0">
              <a:ea typeface="Calibri" pitchFamily="34" charset="-122"/>
              <a:cs typeface="Calibri" pitchFamily="34" charset="-120"/>
            </a:endParaRPr>
          </a:p>
        </p:txBody>
      </p:sp>
      <p:pic>
        <p:nvPicPr>
          <p:cNvPr id="12" name="Picture 11">
            <a:extLst>
              <a:ext uri="{FF2B5EF4-FFF2-40B4-BE49-F238E27FC236}">
                <a16:creationId xmlns:a16="http://schemas.microsoft.com/office/drawing/2014/main" id="{49F193AB-74A6-2491-7228-237C54E07D1F}"/>
              </a:ext>
            </a:extLst>
          </p:cNvPr>
          <p:cNvPicPr>
            <a:picLocks noChangeAspect="1"/>
          </p:cNvPicPr>
          <p:nvPr/>
        </p:nvPicPr>
        <p:blipFill>
          <a:blip r:embed="rId3"/>
          <a:srcRect/>
          <a:stretch/>
        </p:blipFill>
        <p:spPr>
          <a:xfrm>
            <a:off x="3810000" y="821088"/>
            <a:ext cx="4701540" cy="3501325"/>
          </a:xfrm>
          <a:prstGeom prst="rect">
            <a:avLst/>
          </a:prstGeom>
        </p:spPr>
      </p:pic>
      <p:sp>
        <p:nvSpPr>
          <p:cNvPr id="60" name="TextBox 59">
            <a:extLst>
              <a:ext uri="{FF2B5EF4-FFF2-40B4-BE49-F238E27FC236}">
                <a16:creationId xmlns:a16="http://schemas.microsoft.com/office/drawing/2014/main" id="{B896BB12-C31F-F65B-9C35-9E995A5CE121}"/>
              </a:ext>
            </a:extLst>
          </p:cNvPr>
          <p:cNvSpPr txBox="1"/>
          <p:nvPr/>
        </p:nvSpPr>
        <p:spPr>
          <a:xfrm>
            <a:off x="3810000" y="4320540"/>
            <a:ext cx="4876800" cy="600164"/>
          </a:xfrm>
          <a:prstGeom prst="rect">
            <a:avLst/>
          </a:prstGeom>
          <a:noFill/>
        </p:spPr>
        <p:txBody>
          <a:bodyPr wrap="square">
            <a:spAutoFit/>
          </a:bodyPr>
          <a:lstStyle/>
          <a:p>
            <a:r>
              <a:rPr lang="en-US" sz="1100" i="1" dirty="0"/>
              <a:t>Only severe-storm FAR sits clearly right of its placebo cloud and the ±1.96 band; the other eight fall inside their grey spreads. Axis is the signed Wald statistic: sign is coefficient direction, not performance.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13" name="Shape 3">
            <a:extLst>
              <a:ext uri="{FF2B5EF4-FFF2-40B4-BE49-F238E27FC236}">
                <a16:creationId xmlns:a16="http://schemas.microsoft.com/office/drawing/2014/main" id="{462B2296-62C0-E837-49DC-6CCB4B661222}"/>
              </a:ext>
            </a:extLst>
          </p:cNvPr>
          <p:cNvSpPr/>
          <p:nvPr/>
        </p:nvSpPr>
        <p:spPr>
          <a:xfrm>
            <a:off x="457200" y="971550"/>
            <a:ext cx="2949212" cy="3194044"/>
          </a:xfrm>
          <a:prstGeom prst="roundRect">
            <a:avLst>
              <a:gd name="adj" fmla="val 1714"/>
            </a:avLst>
          </a:prstGeom>
          <a:solidFill>
            <a:srgbClr val="F8FAFC"/>
          </a:solidFill>
          <a:ln w="9525">
            <a:solidFill>
              <a:srgbClr val="D1D5DB"/>
            </a:solidFill>
            <a:prstDash val="solid"/>
          </a:ln>
        </p:spPr>
        <p:txBody>
          <a:bodyPr/>
          <a:lstStyle/>
          <a:p>
            <a:endParaRPr lang="en-US"/>
          </a:p>
        </p:txBody>
      </p:sp>
      <p:sp>
        <p:nvSpPr>
          <p:cNvPr id="2" name="Text 0"/>
          <p:cNvSpPr/>
          <p:nvPr/>
        </p:nvSpPr>
        <p:spPr>
          <a:xfrm>
            <a:off x="457200" y="320040"/>
            <a:ext cx="8229600" cy="502920"/>
          </a:xfrm>
          <a:prstGeom prst="rect">
            <a:avLst/>
          </a:prstGeom>
          <a:noFill/>
          <a:ln/>
        </p:spPr>
        <p:txBody>
          <a:bodyPr wrap="square" lIns="0" tIns="0" rIns="0" bIns="0" rtlCol="0" anchor="ctr"/>
          <a:lstStyle/>
          <a:p>
            <a:pPr marL="0" indent="0" algn="l">
              <a:buNone/>
            </a:pPr>
            <a:r>
              <a:rPr lang="en-US" sz="2600" b="1" dirty="0">
                <a:solidFill>
                  <a:srgbClr val="1F2937"/>
                </a:solidFill>
                <a:latin typeface="Cambria" pitchFamily="34" charset="0"/>
                <a:ea typeface="Cambria" pitchFamily="34" charset="-122"/>
                <a:cs typeface="Cambria" pitchFamily="34" charset="-120"/>
              </a:rPr>
              <a:t>Severe-storm false alarms: a real departure</a:t>
            </a:r>
            <a:endParaRPr lang="en-US" sz="2600" dirty="0"/>
          </a:p>
        </p:txBody>
      </p:sp>
      <p:sp>
        <p:nvSpPr>
          <p:cNvPr id="4" name="Text 2"/>
          <p:cNvSpPr/>
          <p:nvPr/>
        </p:nvSpPr>
        <p:spPr>
          <a:xfrm>
            <a:off x="457200" y="1051560"/>
            <a:ext cx="2810786" cy="1815882"/>
          </a:xfrm>
          <a:prstGeom prst="rect">
            <a:avLst/>
          </a:prstGeom>
          <a:noFill/>
        </p:spPr>
        <p:txBody>
          <a:bodyPr wrap="square" rtlCol="0">
            <a:spAutoFit/>
          </a:bodyPr>
          <a:lstStyle/>
          <a:p>
            <a:r>
              <a:rPr lang="en-US" sz="1400" b="1" dirty="0">
                <a:ea typeface="Calibri" pitchFamily="34" charset="-122"/>
                <a:cs typeface="Calibri" pitchFamily="34" charset="-120"/>
              </a:rPr>
              <a:t>2025 had more false alarms for severe thunderstorms than can be explained by normal year-to-year variation.</a:t>
            </a:r>
            <a:endParaRPr lang="en-US" sz="1400" dirty="0"/>
          </a:p>
          <a:p>
            <a:endParaRPr lang="en-US" sz="1400" dirty="0">
              <a:cs typeface="Calibri" pitchFamily="34" charset="-120"/>
            </a:endParaRPr>
          </a:p>
          <a:p>
            <a:pPr marL="285750" indent="-285750">
              <a:buFont typeface="Arial" panose="020B0604020202020204" pitchFamily="34" charset="0"/>
              <a:buChar char="•"/>
            </a:pPr>
            <a:r>
              <a:rPr lang="en-US" sz="1400" dirty="0">
                <a:cs typeface="Calibri" pitchFamily="34" charset="-120"/>
              </a:rPr>
              <a:t>false-alarm odds up ~15%</a:t>
            </a:r>
          </a:p>
          <a:p>
            <a:pPr marL="285750" indent="-285750">
              <a:buFont typeface="Arial" panose="020B0604020202020204" pitchFamily="34" charset="0"/>
              <a:buChar char="•"/>
            </a:pPr>
            <a:r>
              <a:rPr lang="en-US" sz="1400" dirty="0">
                <a:cs typeface="Calibri" pitchFamily="34" charset="-120"/>
              </a:rPr>
              <a:t>p &lt; 0.001, survives FDR</a:t>
            </a:r>
          </a:p>
          <a:p>
            <a:pPr marL="285750" indent="-285750">
              <a:buFont typeface="Arial" panose="020B0604020202020204" pitchFamily="34" charset="0"/>
              <a:buChar char="•"/>
            </a:pPr>
            <a:r>
              <a:rPr lang="en-US" sz="1400" dirty="0">
                <a:cs typeface="Calibri" pitchFamily="34" charset="-120"/>
              </a:rPr>
              <a:t>outside placebo spread</a:t>
            </a:r>
          </a:p>
        </p:txBody>
      </p:sp>
      <p:sp>
        <p:nvSpPr>
          <p:cNvPr id="11" name="Text 6">
            <a:extLst>
              <a:ext uri="{FF2B5EF4-FFF2-40B4-BE49-F238E27FC236}">
                <a16:creationId xmlns:a16="http://schemas.microsoft.com/office/drawing/2014/main" id="{BE39090C-2598-94D5-7FCB-6435C2F1360F}"/>
              </a:ext>
            </a:extLst>
          </p:cNvPr>
          <p:cNvSpPr/>
          <p:nvPr/>
        </p:nvSpPr>
        <p:spPr>
          <a:xfrm>
            <a:off x="4011827" y="3882493"/>
            <a:ext cx="4674973" cy="548640"/>
          </a:xfrm>
          <a:prstGeom prst="rect">
            <a:avLst/>
          </a:prstGeom>
          <a:noFill/>
          <a:ln/>
        </p:spPr>
        <p:txBody>
          <a:bodyPr wrap="square" lIns="0" tIns="0" rIns="0" bIns="0" rtlCol="0" anchor="t"/>
          <a:lstStyle/>
          <a:p>
            <a:r>
              <a:rPr lang="en-US" sz="1100" i="1" dirty="0"/>
              <a:t>The year-10 false-alarm rate (0.543) for severe thunderstorms rises above the extrapolated baseline trend (0.507), a gap of +0.036, meaning more false alarms than the trend predicts.</a:t>
            </a:r>
            <a:endParaRPr lang="en-US" sz="1100" dirty="0"/>
          </a:p>
        </p:txBody>
      </p:sp>
      <p:pic>
        <p:nvPicPr>
          <p:cNvPr id="12" name="Picture 11">
            <a:extLst>
              <a:ext uri="{FF2B5EF4-FFF2-40B4-BE49-F238E27FC236}">
                <a16:creationId xmlns:a16="http://schemas.microsoft.com/office/drawing/2014/main" id="{538133BE-A7D4-B7D9-6714-D9E5F6C7ED78}"/>
              </a:ext>
            </a:extLst>
          </p:cNvPr>
          <p:cNvPicPr>
            <a:picLocks noChangeAspect="1"/>
          </p:cNvPicPr>
          <p:nvPr/>
        </p:nvPicPr>
        <p:blipFill>
          <a:blip r:embed="rId3"/>
          <a:stretch>
            <a:fillRect/>
          </a:stretch>
        </p:blipFill>
        <p:spPr>
          <a:xfrm>
            <a:off x="3540274" y="1045845"/>
            <a:ext cx="5146526" cy="27774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9" name="Shape 3">
            <a:extLst>
              <a:ext uri="{FF2B5EF4-FFF2-40B4-BE49-F238E27FC236}">
                <a16:creationId xmlns:a16="http://schemas.microsoft.com/office/drawing/2014/main" id="{2B25B14B-FF7E-348A-8AF9-438DD9A453DB}"/>
              </a:ext>
            </a:extLst>
          </p:cNvPr>
          <p:cNvSpPr/>
          <p:nvPr/>
        </p:nvSpPr>
        <p:spPr>
          <a:xfrm>
            <a:off x="457199" y="971550"/>
            <a:ext cx="8292353" cy="2524685"/>
          </a:xfrm>
          <a:prstGeom prst="roundRect">
            <a:avLst>
              <a:gd name="adj" fmla="val 1714"/>
            </a:avLst>
          </a:prstGeom>
          <a:solidFill>
            <a:srgbClr val="F8FAFC"/>
          </a:solidFill>
          <a:ln w="9525">
            <a:solidFill>
              <a:srgbClr val="D1D5DB"/>
            </a:solidFill>
            <a:prstDash val="solid"/>
          </a:ln>
        </p:spPr>
        <p:txBody>
          <a:bodyPr/>
          <a:lstStyle/>
          <a:p>
            <a:endParaRPr lang="en-US"/>
          </a:p>
        </p:txBody>
      </p:sp>
      <p:sp>
        <p:nvSpPr>
          <p:cNvPr id="2" name="Text 0"/>
          <p:cNvSpPr/>
          <p:nvPr/>
        </p:nvSpPr>
        <p:spPr>
          <a:xfrm>
            <a:off x="457200" y="320040"/>
            <a:ext cx="8229600" cy="502920"/>
          </a:xfrm>
          <a:prstGeom prst="rect">
            <a:avLst/>
          </a:prstGeom>
          <a:noFill/>
          <a:ln/>
        </p:spPr>
        <p:txBody>
          <a:bodyPr wrap="square" lIns="0" tIns="0" rIns="0" bIns="0" rtlCol="0" anchor="ctr"/>
          <a:lstStyle/>
          <a:p>
            <a:pPr marL="0" indent="0" algn="l">
              <a:buNone/>
            </a:pPr>
            <a:r>
              <a:rPr lang="en-US" sz="2600" b="1" dirty="0">
                <a:solidFill>
                  <a:srgbClr val="1F2937"/>
                </a:solidFill>
                <a:latin typeface="Cambria" pitchFamily="34" charset="0"/>
                <a:ea typeface="Cambria" pitchFamily="34" charset="-122"/>
                <a:cs typeface="Cambria" pitchFamily="34" charset="-120"/>
              </a:rPr>
              <a:t>What this does not show</a:t>
            </a:r>
            <a:endParaRPr lang="en-US" sz="2600" dirty="0"/>
          </a:p>
        </p:txBody>
      </p:sp>
      <p:sp>
        <p:nvSpPr>
          <p:cNvPr id="3" name="Text 1"/>
          <p:cNvSpPr/>
          <p:nvPr/>
        </p:nvSpPr>
        <p:spPr>
          <a:xfrm>
            <a:off x="457200" y="1051560"/>
            <a:ext cx="8229600" cy="2246769"/>
          </a:xfrm>
          <a:prstGeom prst="rect">
            <a:avLst/>
          </a:prstGeom>
          <a:noFill/>
        </p:spPr>
        <p:txBody>
          <a:bodyPr wrap="square" rtlCol="0">
            <a:spAutoFit/>
          </a:bodyPr>
          <a:lstStyle/>
          <a:p>
            <a:r>
              <a:rPr lang="en-US" sz="1400" b="1" dirty="0">
                <a:cs typeface="Calibri" pitchFamily="34" charset="-120"/>
              </a:rPr>
              <a:t>No causal attribution to staffing. </a:t>
            </a:r>
          </a:p>
          <a:p>
            <a:r>
              <a:rPr lang="en-US" sz="1400" dirty="0">
                <a:cs typeface="Calibri" pitchFamily="34" charset="-120"/>
              </a:rPr>
              <a:t>No reliable per-office staffing or vacancy data was available. Year-10 changes cannot be tied to staffing under this design.</a:t>
            </a:r>
          </a:p>
          <a:p>
            <a:r>
              <a:rPr lang="en-US" sz="1400" b="1" dirty="0">
                <a:cs typeface="Calibri" pitchFamily="34" charset="-120"/>
              </a:rPr>
              <a:t>  </a:t>
            </a:r>
          </a:p>
          <a:p>
            <a:r>
              <a:rPr lang="en-US" sz="1400" b="1" dirty="0">
                <a:cs typeface="Calibri" pitchFamily="34" charset="-120"/>
              </a:rPr>
              <a:t>LSRs are imperfect ground truth. </a:t>
            </a:r>
          </a:p>
          <a:p>
            <a:r>
              <a:rPr lang="en-US" sz="1400" dirty="0">
                <a:cs typeface="Calibri" pitchFamily="34" charset="-120"/>
              </a:rPr>
              <a:t>Changes in reporting effort can mimic changes in detection.</a:t>
            </a:r>
          </a:p>
          <a:p>
            <a:r>
              <a:rPr lang="en-US" sz="1400" b="1" dirty="0">
                <a:cs typeface="Calibri" pitchFamily="34" charset="-120"/>
              </a:rPr>
              <a:t> </a:t>
            </a:r>
          </a:p>
          <a:p>
            <a:r>
              <a:rPr lang="en-US" sz="1400" b="1" dirty="0">
                <a:cs typeface="Calibri" pitchFamily="34" charset="-120"/>
              </a:rPr>
              <a:t>Office-level heterogeneity is descriptive, not tested. </a:t>
            </a:r>
          </a:p>
          <a:p>
            <a:r>
              <a:rPr lang="en-US" sz="1400" dirty="0">
                <a:cs typeface="Calibri" pitchFamily="34" charset="-120"/>
              </a:rPr>
              <a:t>Per-office year-10 effects show meaningful spread for every metric; no valid joint test at this design. A where-to-look signal, not a claim.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640080" y="457200"/>
            <a:ext cx="786384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Conclusions</a:t>
            </a:r>
            <a:endParaRPr lang="en-US" sz="2800" dirty="0"/>
          </a:p>
        </p:txBody>
      </p:sp>
      <p:sp>
        <p:nvSpPr>
          <p:cNvPr id="3" name="Text 1"/>
          <p:cNvSpPr/>
          <p:nvPr/>
        </p:nvSpPr>
        <p:spPr>
          <a:xfrm>
            <a:off x="640080" y="1280159"/>
            <a:ext cx="7863840" cy="2538795"/>
          </a:xfrm>
          <a:prstGeom prst="rect">
            <a:avLst/>
          </a:prstGeom>
          <a:noFill/>
          <a:ln/>
        </p:spPr>
        <p:txBody>
          <a:bodyPr wrap="square" lIns="0" tIns="0" rIns="0" bIns="0" rtlCol="0" anchor="t"/>
          <a:lstStyle/>
          <a:p>
            <a:pPr marL="285750" indent="-285750">
              <a:spcAft>
                <a:spcPts val="400"/>
              </a:spcAft>
              <a:buFont typeface="Arial" panose="020B0604020202020204" pitchFamily="34" charset="0"/>
              <a:buChar char="•"/>
            </a:pPr>
            <a:r>
              <a:rPr lang="en-US" sz="1600" dirty="0">
                <a:solidFill>
                  <a:schemeClr val="bg1"/>
                </a:solidFill>
              </a:rPr>
              <a:t>Across nine tests, no broad evidence of degraded NWS warning performance in 2025.</a:t>
            </a:r>
          </a:p>
          <a:p>
            <a:pPr marL="285750" indent="-285750">
              <a:spcAft>
                <a:spcPts val="400"/>
              </a:spcAft>
              <a:buFont typeface="Arial" panose="020B0604020202020204" pitchFamily="34" charset="0"/>
              <a:buChar char="•"/>
            </a:pPr>
            <a:r>
              <a:rPr lang="en-US" sz="1600" dirty="0">
                <a:solidFill>
                  <a:schemeClr val="bg1"/>
                </a:solidFill>
              </a:rPr>
              <a:t>Flash-flood FAR and lead time were statistically significant and survived FDR but failed the placebo check. Baseline years produced effects just as large, so they are not treated as findings.</a:t>
            </a:r>
          </a:p>
          <a:p>
            <a:pPr marL="285750" indent="-285750">
              <a:spcAft>
                <a:spcPts val="400"/>
              </a:spcAft>
              <a:buFont typeface="Arial" panose="020B0604020202020204" pitchFamily="34" charset="0"/>
              <a:buChar char="•"/>
            </a:pPr>
            <a:r>
              <a:rPr lang="en-US" sz="1600" dirty="0">
                <a:solidFill>
                  <a:schemeClr val="bg1"/>
                </a:solidFill>
              </a:rPr>
              <a:t>One cautious finding: SV FAR odds up about 15%, with POD and LTA unchanged. This deserves a deeper dive.</a:t>
            </a:r>
          </a:p>
          <a:p>
            <a:pPr marL="285750" indent="-285750">
              <a:spcAft>
                <a:spcPts val="400"/>
              </a:spcAft>
              <a:buFont typeface="Arial" panose="020B0604020202020204" pitchFamily="34" charset="0"/>
              <a:buChar char="•"/>
            </a:pPr>
            <a:r>
              <a:rPr lang="en-US" sz="1600" dirty="0">
                <a:solidFill>
                  <a:schemeClr val="bg1"/>
                </a:solidFill>
              </a:rPr>
              <a:t>WFO staffing data would potentially enable comparing offices that lost staff against those that didn’t, turning this association into a causal, difference-in-differences test. </a:t>
            </a:r>
          </a:p>
          <a:p>
            <a:pPr marL="285750" indent="-285750">
              <a:spcAft>
                <a:spcPts val="400"/>
              </a:spcAft>
              <a:buFont typeface="Arial" panose="020B0604020202020204" pitchFamily="34" charset="0"/>
              <a:buChar char="•"/>
            </a:pPr>
            <a:endParaRPr lang="en-US" sz="1600" dirty="0">
              <a:solidFill>
                <a:schemeClr val="bg1"/>
              </a:solidFill>
            </a:endParaRPr>
          </a:p>
        </p:txBody>
      </p:sp>
      <p:sp>
        <p:nvSpPr>
          <p:cNvPr id="4" name="Shape 2"/>
          <p:cNvSpPr/>
          <p:nvPr/>
        </p:nvSpPr>
        <p:spPr>
          <a:xfrm>
            <a:off x="640080" y="4114800"/>
            <a:ext cx="1097280" cy="0"/>
          </a:xfrm>
          <a:prstGeom prst="line">
            <a:avLst/>
          </a:prstGeom>
          <a:noFill/>
          <a:ln w="12700">
            <a:solidFill>
              <a:srgbClr val="CADCFC"/>
            </a:solidFill>
            <a:prstDash val="solid"/>
          </a:ln>
        </p:spPr>
        <p:txBody>
          <a:bodyPr/>
          <a:lstStyle/>
          <a:p>
            <a:endParaRPr lang="en-US"/>
          </a:p>
        </p:txBody>
      </p:sp>
      <p:sp>
        <p:nvSpPr>
          <p:cNvPr id="5" name="Text 3"/>
          <p:cNvSpPr/>
          <p:nvPr/>
        </p:nvSpPr>
        <p:spPr>
          <a:xfrm>
            <a:off x="640080" y="4206240"/>
            <a:ext cx="7863840" cy="457200"/>
          </a:xfrm>
          <a:prstGeom prst="rect">
            <a:avLst/>
          </a:prstGeom>
          <a:noFill/>
          <a:ln/>
        </p:spPr>
        <p:txBody>
          <a:bodyPr wrap="square" lIns="0" tIns="0" rIns="0" bIns="0" rtlCol="0" anchor="ctr"/>
          <a:lstStyle/>
          <a:p>
            <a:pPr marL="0" indent="0" algn="l">
              <a:buNone/>
            </a:pPr>
            <a:r>
              <a:rPr lang="en-US" sz="1800" i="1" dirty="0">
                <a:solidFill>
                  <a:srgbClr val="CADCFC"/>
                </a:solidFill>
                <a:latin typeface="Cambria" pitchFamily="34" charset="0"/>
                <a:ea typeface="Cambria" pitchFamily="34" charset="-122"/>
                <a:cs typeface="Cambria" pitchFamily="34" charset="-120"/>
              </a:rPr>
              <a:t>Questions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5E7DC9-1510-A656-3011-9C78DAE5DB01}"/>
              </a:ext>
            </a:extLst>
          </p:cNvPr>
          <p:cNvSpPr/>
          <p:nvPr/>
        </p:nvSpPr>
        <p:spPr>
          <a:xfrm>
            <a:off x="0" y="0"/>
            <a:ext cx="9144000" cy="2821719"/>
          </a:xfrm>
          <a:prstGeom prst="rect">
            <a:avLst/>
          </a:prstGeom>
          <a:solidFill>
            <a:srgbClr val="1F3A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1BC45C1C-B084-318A-8C00-339A9EEEC38C}"/>
              </a:ext>
            </a:extLst>
          </p:cNvPr>
          <p:cNvSpPr/>
          <p:nvPr/>
        </p:nvSpPr>
        <p:spPr>
          <a:xfrm>
            <a:off x="516193" y="1971191"/>
            <a:ext cx="5432323" cy="502920"/>
          </a:xfrm>
          <a:prstGeom prst="rect">
            <a:avLst/>
          </a:prstGeom>
          <a:noFill/>
          <a:ln/>
        </p:spPr>
        <p:txBody>
          <a:bodyPr wrap="square" lIns="0" tIns="0" rIns="0" bIns="0" rtlCol="0" anchor="ctr"/>
          <a:lstStyle/>
          <a:p>
            <a:r>
              <a:rPr lang="en-US" sz="2800" b="1" dirty="0">
                <a:solidFill>
                  <a:srgbClr val="FFFFFF"/>
                </a:solidFill>
                <a:latin typeface="Cambria" pitchFamily="34" charset="0"/>
                <a:ea typeface="Cambria" pitchFamily="34" charset="-122"/>
                <a:cs typeface="Cambria" pitchFamily="34" charset="-120"/>
              </a:rPr>
              <a:t>Appendix</a:t>
            </a:r>
            <a:endParaRPr lang="en-US" sz="2800" dirty="0"/>
          </a:p>
        </p:txBody>
      </p:sp>
    </p:spTree>
    <p:extLst>
      <p:ext uri="{BB962C8B-B14F-4D97-AF65-F5344CB8AC3E}">
        <p14:creationId xmlns:p14="http://schemas.microsoft.com/office/powerpoint/2010/main" val="3911978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7DBCA082-8323-EF5E-90FB-C5CBD78C8B5D}"/>
              </a:ext>
            </a:extLst>
          </p:cNvPr>
          <p:cNvSpPr/>
          <p:nvPr/>
        </p:nvSpPr>
        <p:spPr>
          <a:xfrm>
            <a:off x="457200" y="320040"/>
            <a:ext cx="8229600" cy="502920"/>
          </a:xfrm>
          <a:prstGeom prst="rect">
            <a:avLst/>
          </a:prstGeom>
          <a:noFill/>
          <a:ln/>
        </p:spPr>
        <p:txBody>
          <a:bodyPr wrap="square" lIns="0" tIns="0" rIns="0" bIns="0" rtlCol="0" anchor="ctr"/>
          <a:lstStyle/>
          <a:p>
            <a:pPr marL="0" indent="0" algn="l">
              <a:buNone/>
            </a:pPr>
            <a:r>
              <a:rPr lang="en-US" sz="2600" b="1" dirty="0">
                <a:solidFill>
                  <a:srgbClr val="1F2937"/>
                </a:solidFill>
                <a:latin typeface="Cambria" pitchFamily="34" charset="0"/>
                <a:ea typeface="Cambria" pitchFamily="34" charset="-122"/>
                <a:cs typeface="Cambria" pitchFamily="34" charset="-120"/>
              </a:rPr>
              <a:t>Did SV false alarms come with larger warnings?</a:t>
            </a:r>
          </a:p>
        </p:txBody>
      </p:sp>
      <p:sp>
        <p:nvSpPr>
          <p:cNvPr id="5" name="Shape 3">
            <a:extLst>
              <a:ext uri="{FF2B5EF4-FFF2-40B4-BE49-F238E27FC236}">
                <a16:creationId xmlns:a16="http://schemas.microsoft.com/office/drawing/2014/main" id="{09685400-C168-F991-206D-331ADF6ADB94}"/>
              </a:ext>
            </a:extLst>
          </p:cNvPr>
          <p:cNvSpPr/>
          <p:nvPr/>
        </p:nvSpPr>
        <p:spPr>
          <a:xfrm>
            <a:off x="457200" y="971550"/>
            <a:ext cx="2135530" cy="3457015"/>
          </a:xfrm>
          <a:prstGeom prst="roundRect">
            <a:avLst>
              <a:gd name="adj" fmla="val 1714"/>
            </a:avLst>
          </a:prstGeom>
          <a:solidFill>
            <a:srgbClr val="F8FAFC"/>
          </a:solidFill>
          <a:ln w="9525">
            <a:solidFill>
              <a:srgbClr val="D1D5DB"/>
            </a:solidFill>
            <a:prstDash val="solid"/>
          </a:ln>
        </p:spPr>
        <p:txBody>
          <a:bodyPr/>
          <a:lstStyle/>
          <a:p>
            <a:r>
              <a:rPr lang="en-US" sz="1400" b="1" dirty="0"/>
              <a:t>A diagnostic on the false-alarm finding, not a tenth test</a:t>
            </a:r>
          </a:p>
          <a:p>
            <a:endParaRPr lang="en-US" sz="1400" b="1" dirty="0"/>
          </a:p>
          <a:p>
            <a:r>
              <a:rPr lang="en-US" sz="1400" dirty="0"/>
              <a:t>If 2025 had more severe-storm false alarms, were the warnings also drawn larger? Larger polygons are more precautionary and sweep up more non-events.</a:t>
            </a:r>
          </a:p>
          <a:p>
            <a:endParaRPr lang="en-US" sz="1400" b="1" dirty="0"/>
          </a:p>
          <a:p>
            <a:r>
              <a:rPr lang="en-US" sz="1400" i="1" dirty="0"/>
              <a:t>Exploratory; excluded from the nine FDR-corrected tests</a:t>
            </a:r>
          </a:p>
        </p:txBody>
      </p:sp>
      <p:pic>
        <p:nvPicPr>
          <p:cNvPr id="7" name="Picture 6">
            <a:extLst>
              <a:ext uri="{FF2B5EF4-FFF2-40B4-BE49-F238E27FC236}">
                <a16:creationId xmlns:a16="http://schemas.microsoft.com/office/drawing/2014/main" id="{56EEB1FB-EBB1-DB99-E4B7-61F509CF4631}"/>
              </a:ext>
            </a:extLst>
          </p:cNvPr>
          <p:cNvPicPr>
            <a:picLocks noChangeAspect="1"/>
          </p:cNvPicPr>
          <p:nvPr/>
        </p:nvPicPr>
        <p:blipFill>
          <a:blip r:embed="rId2"/>
          <a:stretch>
            <a:fillRect/>
          </a:stretch>
        </p:blipFill>
        <p:spPr>
          <a:xfrm>
            <a:off x="2723817" y="971549"/>
            <a:ext cx="6263925" cy="3380531"/>
          </a:xfrm>
          <a:prstGeom prst="rect">
            <a:avLst/>
          </a:prstGeom>
        </p:spPr>
      </p:pic>
      <p:sp>
        <p:nvSpPr>
          <p:cNvPr id="9" name="TextBox 8">
            <a:extLst>
              <a:ext uri="{FF2B5EF4-FFF2-40B4-BE49-F238E27FC236}">
                <a16:creationId xmlns:a16="http://schemas.microsoft.com/office/drawing/2014/main" id="{E78396E9-33A0-BFAF-D997-B31020A026C0}"/>
              </a:ext>
            </a:extLst>
          </p:cNvPr>
          <p:cNvSpPr txBox="1"/>
          <p:nvPr/>
        </p:nvSpPr>
        <p:spPr>
          <a:xfrm>
            <a:off x="2723816" y="4352080"/>
            <a:ext cx="6263925" cy="600164"/>
          </a:xfrm>
          <a:prstGeom prst="rect">
            <a:avLst/>
          </a:prstGeom>
          <a:noFill/>
        </p:spPr>
        <p:txBody>
          <a:bodyPr wrap="square">
            <a:spAutoFit/>
          </a:bodyPr>
          <a:lstStyle/>
          <a:p>
            <a:r>
              <a:rPr lang="en-US" sz="1100" b="0" i="1" dirty="0">
                <a:effectLst/>
              </a:rPr>
              <a:t>Severe-storm warning area departs about +4% above the season-adjusted baseline trend in 2025, the same direction as the year-10 rise in false alarms</a:t>
            </a:r>
            <a:r>
              <a:rPr lang="en-US" sz="1100" i="1" dirty="0"/>
              <a:t>. </a:t>
            </a:r>
            <a:r>
              <a:rPr lang="en-US" sz="1100" b="0" i="1" dirty="0">
                <a:effectLst/>
              </a:rPr>
              <a:t>Bigger, more precautionary polygons would be consistent with more warnings that did not verify. Descriptive, not causal.</a:t>
            </a:r>
            <a:endParaRPr lang="en-US" sz="1100" i="1" dirty="0"/>
          </a:p>
        </p:txBody>
      </p:sp>
    </p:spTree>
    <p:extLst>
      <p:ext uri="{BB962C8B-B14F-4D97-AF65-F5344CB8AC3E}">
        <p14:creationId xmlns:p14="http://schemas.microsoft.com/office/powerpoint/2010/main" val="2927952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80E81-6FD8-7DE0-3C7C-94889690EF8B}"/>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3940175D-57A3-6245-40B2-6A331FA23F22}"/>
              </a:ext>
            </a:extLst>
          </p:cNvPr>
          <p:cNvSpPr/>
          <p:nvPr/>
        </p:nvSpPr>
        <p:spPr>
          <a:xfrm>
            <a:off x="457200" y="1165188"/>
            <a:ext cx="2737821" cy="3658272"/>
          </a:xfrm>
          <a:prstGeom prst="roundRect">
            <a:avLst>
              <a:gd name="adj" fmla="val 1714"/>
            </a:avLst>
          </a:prstGeom>
          <a:solidFill>
            <a:srgbClr val="F8FAFC"/>
          </a:solidFill>
          <a:ln w="9525">
            <a:solidFill>
              <a:srgbClr val="D1D5DB"/>
            </a:solidFill>
            <a:prstDash val="solid"/>
          </a:ln>
        </p:spPr>
        <p:txBody>
          <a:bodyPr/>
          <a:lstStyle/>
          <a:p>
            <a:r>
              <a:rPr lang="en-US" sz="1400" b="1" dirty="0"/>
              <a:t>Could the false-alarm rise just be a shift in which offices were busy?</a:t>
            </a:r>
          </a:p>
          <a:p>
            <a:endParaRPr lang="en-US" sz="1400" b="1" dirty="0"/>
          </a:p>
          <a:p>
            <a:r>
              <a:rPr lang="en-US" sz="1400" dirty="0"/>
              <a:t>Weather covers different ground each year, and the national rate is office-weighted, so a shift in the busy offices can move it with no change in how anyone warns.</a:t>
            </a:r>
          </a:p>
          <a:p>
            <a:endParaRPr lang="en-US" sz="1400" dirty="0"/>
          </a:p>
          <a:p>
            <a:r>
              <a:rPr lang="en-US" sz="1400" dirty="0"/>
              <a:t>But only false alarms moved; detection and lead time held. A broad composition shift would potentially move all three. The confound narrows, though a false-alarm-specific one can't be ruled out.</a:t>
            </a:r>
            <a:endParaRPr lang="en-US" sz="1400" i="1" dirty="0"/>
          </a:p>
        </p:txBody>
      </p:sp>
      <p:sp>
        <p:nvSpPr>
          <p:cNvPr id="4" name="Text 0">
            <a:extLst>
              <a:ext uri="{FF2B5EF4-FFF2-40B4-BE49-F238E27FC236}">
                <a16:creationId xmlns:a16="http://schemas.microsoft.com/office/drawing/2014/main" id="{7BE02924-4DD2-A586-D602-844FEBB1BE68}"/>
              </a:ext>
            </a:extLst>
          </p:cNvPr>
          <p:cNvSpPr/>
          <p:nvPr/>
        </p:nvSpPr>
        <p:spPr>
          <a:xfrm>
            <a:off x="457200" y="320040"/>
            <a:ext cx="8229600" cy="502920"/>
          </a:xfrm>
          <a:prstGeom prst="rect">
            <a:avLst/>
          </a:prstGeom>
          <a:noFill/>
          <a:ln/>
        </p:spPr>
        <p:txBody>
          <a:bodyPr wrap="square" lIns="0" tIns="0" rIns="0" bIns="0" rtlCol="0" anchor="ctr"/>
          <a:lstStyle/>
          <a:p>
            <a:pPr marL="0" indent="0" algn="l">
              <a:buNone/>
            </a:pPr>
            <a:r>
              <a:rPr lang="en-US" sz="2600" b="1" dirty="0">
                <a:solidFill>
                  <a:srgbClr val="1F2937"/>
                </a:solidFill>
                <a:latin typeface="Cambria" pitchFamily="34" charset="0"/>
                <a:ea typeface="Cambria" pitchFamily="34" charset="-122"/>
                <a:cs typeface="Cambria" pitchFamily="34" charset="-120"/>
              </a:rPr>
              <a:t>Were SV false alarms a composition shift, not a behavior change?</a:t>
            </a:r>
          </a:p>
        </p:txBody>
      </p:sp>
      <p:pic>
        <p:nvPicPr>
          <p:cNvPr id="7" name="Picture 6">
            <a:extLst>
              <a:ext uri="{FF2B5EF4-FFF2-40B4-BE49-F238E27FC236}">
                <a16:creationId xmlns:a16="http://schemas.microsoft.com/office/drawing/2014/main" id="{755C075E-44D2-FBDA-AF9D-7FC89CEAEC7F}"/>
              </a:ext>
            </a:extLst>
          </p:cNvPr>
          <p:cNvPicPr>
            <a:picLocks noChangeAspect="1"/>
          </p:cNvPicPr>
          <p:nvPr/>
        </p:nvPicPr>
        <p:blipFill>
          <a:blip r:embed="rId3"/>
          <a:srcRect/>
          <a:stretch/>
        </p:blipFill>
        <p:spPr>
          <a:xfrm>
            <a:off x="3377900" y="971550"/>
            <a:ext cx="5609841" cy="2968115"/>
          </a:xfrm>
          <a:prstGeom prst="rect">
            <a:avLst/>
          </a:prstGeom>
        </p:spPr>
      </p:pic>
      <p:sp>
        <p:nvSpPr>
          <p:cNvPr id="9" name="TextBox 8">
            <a:extLst>
              <a:ext uri="{FF2B5EF4-FFF2-40B4-BE49-F238E27FC236}">
                <a16:creationId xmlns:a16="http://schemas.microsoft.com/office/drawing/2014/main" id="{A6E5184F-2DE8-3CDD-A258-D325393B7F16}"/>
              </a:ext>
            </a:extLst>
          </p:cNvPr>
          <p:cNvSpPr txBox="1"/>
          <p:nvPr/>
        </p:nvSpPr>
        <p:spPr>
          <a:xfrm>
            <a:off x="3517751" y="4047881"/>
            <a:ext cx="4679578" cy="430887"/>
          </a:xfrm>
          <a:prstGeom prst="rect">
            <a:avLst/>
          </a:prstGeom>
          <a:noFill/>
        </p:spPr>
        <p:txBody>
          <a:bodyPr wrap="square">
            <a:spAutoFit/>
          </a:bodyPr>
          <a:lstStyle/>
          <a:p>
            <a:r>
              <a:rPr lang="en-US" sz="1100" i="1" dirty="0"/>
              <a:t>Year-10 severe-storm reports drew from a different regional mix than baseline (red = larger 2025 share).</a:t>
            </a:r>
          </a:p>
        </p:txBody>
      </p:sp>
    </p:spTree>
    <p:extLst>
      <p:ext uri="{BB962C8B-B14F-4D97-AF65-F5344CB8AC3E}">
        <p14:creationId xmlns:p14="http://schemas.microsoft.com/office/powerpoint/2010/main" val="3192894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TotalTime>
  <Words>1469</Words>
  <Application>Microsoft Macintosh PowerPoint</Application>
  <PresentationFormat>On-screen Show (16:9)</PresentationFormat>
  <Paragraphs>133</Paragraphs>
  <Slides>15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Andale Mono</vt:lpstr>
      <vt:lpstr>Arial</vt:lpstr>
      <vt:lpstr>Calibri</vt:lpstr>
      <vt:lpstr>Cambria</vt:lpstr>
      <vt:lpstr>System Font 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NWS Warning Performance: Year-10 Departure Analysis</dc:title>
  <dc:subject>PptxGenJS Presentation</dc:subject>
  <dc:creator>Craig</dc:creator>
  <cp:lastModifiedBy>Rudman, Craig E</cp:lastModifiedBy>
  <cp:revision>9</cp:revision>
  <dcterms:created xsi:type="dcterms:W3CDTF">2026-06-20T17:24:28Z</dcterms:created>
  <dcterms:modified xsi:type="dcterms:W3CDTF">2026-06-21T19:40:13Z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6de1d5b-8b4b-4e4e-a8a1-d2976158103f_Enabled">
    <vt:lpwstr>true</vt:lpwstr>
  </property>
  <property fmtid="{D5CDD505-2E9C-101B-9397-08002B2CF9AE}" pid="3" name="MSIP_Label_a6de1d5b-8b4b-4e4e-a8a1-d2976158103f_SetDate">
    <vt:lpwstr>2026-06-21T01:24:07Z</vt:lpwstr>
  </property>
  <property fmtid="{D5CDD505-2E9C-101B-9397-08002B2CF9AE}" pid="4" name="MSIP_Label_a6de1d5b-8b4b-4e4e-a8a1-d2976158103f_Method">
    <vt:lpwstr>Standard</vt:lpwstr>
  </property>
  <property fmtid="{D5CDD505-2E9C-101B-9397-08002B2CF9AE}" pid="5" name="MSIP_Label_a6de1d5b-8b4b-4e4e-a8a1-d2976158103f_Name">
    <vt:lpwstr>defa4170-0d19-0005-0004-bc88714345d2</vt:lpwstr>
  </property>
  <property fmtid="{D5CDD505-2E9C-101B-9397-08002B2CF9AE}" pid="6" name="MSIP_Label_a6de1d5b-8b4b-4e4e-a8a1-d2976158103f_SiteId">
    <vt:lpwstr>ecd4c5d9-c2fe-4522-afd1-f0d20755d9d7</vt:lpwstr>
  </property>
  <property fmtid="{D5CDD505-2E9C-101B-9397-08002B2CF9AE}" pid="7" name="MSIP_Label_a6de1d5b-8b4b-4e4e-a8a1-d2976158103f_ActionId">
    <vt:lpwstr>ce45f4a3-8a17-4706-b006-5d553c39cb92</vt:lpwstr>
  </property>
  <property fmtid="{D5CDD505-2E9C-101B-9397-08002B2CF9AE}" pid="8" name="MSIP_Label_a6de1d5b-8b4b-4e4e-a8a1-d2976158103f_ContentBits">
    <vt:lpwstr>0</vt:lpwstr>
  </property>
  <property fmtid="{D5CDD505-2E9C-101B-9397-08002B2CF9AE}" pid="9" name="MSIP_Label_a6de1d5b-8b4b-4e4e-a8a1-d2976158103f_Tag">
    <vt:lpwstr>50, 3, 0, 1</vt:lpwstr>
  </property>
</Properties>
</file>